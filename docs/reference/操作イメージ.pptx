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213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12D65E-6926-4DD6-89F7-EB73A00FD2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38EBBB4-7AD5-4DAD-BC6B-9070955D6B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EF91E1-910A-462E-8BD9-B4B26EB84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1415-D1CA-4FF3-A594-58229DFFD8EF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910E44-D47E-47EE-B8D6-4E3C2D031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6EC80F-B5C2-4A3B-9E7A-F2C548E27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6D6A-56FB-4D95-B15A-7E81E94ED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2105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F53B7B-9852-46AA-8668-97CF7A9DA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CD58EF6-261A-4A53-A30F-8391D4964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E4C6B0-3EC5-4A08-BB25-EE517208F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1415-D1CA-4FF3-A594-58229DFFD8EF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257401-F3B4-4B06-BC5F-2B45E1CB6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2227AD-CBE0-4C3E-9646-99A9CC2AE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6D6A-56FB-4D95-B15A-7E81E94ED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9463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C74EC5-D85A-45A4-8632-91436DBB7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26364A8-A80A-4138-943E-CB6AC81C5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B02D8F-B55B-4331-9FD9-A32DF0211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1415-D1CA-4FF3-A594-58229DFFD8EF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892663-08ED-4FE8-A9C2-FD339E429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31C83D-115F-494F-A43E-784E9722D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6D6A-56FB-4D95-B15A-7E81E94ED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5434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6E9D29-5508-4697-AEFB-BFE2AE5A4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A16EF6-A35A-4C20-8500-B4C5DAAF9C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B6B582E-14E5-4A72-AD0A-20C4DF8AD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711EC3B-0C9C-4231-B1E1-415DD4162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1415-D1CA-4FF3-A594-58229DFFD8EF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78E2F74-F348-4A52-9377-23FA01D36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26CB62E-CAE5-4A36-905F-13672E6F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6D6A-56FB-4D95-B15A-7E81E94ED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330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8FE277-7145-4DED-8D4A-A00E55C78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424E84-B9BD-46BD-BA00-BF88FCC85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22E7070-F2AF-48AD-8D53-B07C99BDF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CE779BA-D02D-47CB-BC82-45D750ABFE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EE87F29-490E-4354-AF30-D4AB1F654C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6152BFE-AFC0-4EB5-8786-14D9A358E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1415-D1CA-4FF3-A594-58229DFFD8EF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1F94EF3-83D6-4BFE-8C05-F9BC116B2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7E610F6-6CDA-4A68-8BED-468C814A7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6D6A-56FB-4D95-B15A-7E81E94ED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6029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487E7D-CA0F-41F8-A855-7DF38C6FD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311A372-D819-45FE-805C-5FE2A8650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1415-D1CA-4FF3-A594-58229DFFD8EF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5732A55-BCB7-4854-B2F8-F1B5A6CDE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12B61F9-8387-4FDD-9F5D-4147D3FC7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6D6A-56FB-4D95-B15A-7E81E94ED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5190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391BC0A-277B-44D2-BD99-3CAF58114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1415-D1CA-4FF3-A594-58229DFFD8EF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72F732A-BF26-4875-8C65-75028D476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4D2A6DC-C264-4623-9FBC-43782959A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6D6A-56FB-4D95-B15A-7E81E94ED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2149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019EF0-4F21-42FA-88F8-507E11B47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F38FBDE-C204-4208-BAB4-19A808C1E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535B8E5-5552-4E98-9243-F5A059A44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992AE69-F343-4999-AC62-0173D63C5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1415-D1CA-4FF3-A594-58229DFFD8EF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353BDB0-401F-49A9-BCFE-E12657F0B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43AD2FF-BC3C-4BAE-9DEA-4A20B1880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6D6A-56FB-4D95-B15A-7E81E94ED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2283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26616B-F691-42FF-9288-0C444ED08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3B6ED44-D83C-424F-B0CD-E3BEC248AD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657B53B-8C19-4444-9FBA-E8B56671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E686F47-B868-4C33-9736-DE13BD9D0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1415-D1CA-4FF3-A594-58229DFFD8EF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7AA0ED-F7EF-4B8B-B846-E7C4160EF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E73F4AA-8942-46CB-8929-3AE991110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6D6A-56FB-4D95-B15A-7E81E94ED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0352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1E8417-B1F4-46F5-8D06-B77986139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513C6ED-6BEA-4ADB-915C-1BC13264B4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0E1FE4-7D6E-44ED-A970-CF91153C8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1415-D1CA-4FF3-A594-58229DFFD8EF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529BFA-A456-4766-995C-A097B4C36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14FA95-0009-4F13-AD3A-CD0469152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6D6A-56FB-4D95-B15A-7E81E94ED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2803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B2F5AF4-60BD-466D-AA48-71E2DF4964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1C39306-8A3A-4661-BB9E-E01072324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366493-05F6-44CF-B53E-191366C24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1415-D1CA-4FF3-A594-58229DFFD8EF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8A3BAB-0658-4AB0-BE6A-3F39B299C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6335DB-2F58-482B-A371-E0EDCBA3F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6D6A-56FB-4D95-B15A-7E81E94ED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1282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99D7BD5-684F-4483-B933-0C24B2820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A14A1BF-7C9D-42D4-A06C-CCB80AEDE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F14F3A-0B52-4386-9BE0-8A6D190576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F1415-D1CA-4FF3-A594-58229DFFD8EF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D76F99-6DE9-4A81-BB4E-F9A236B738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64B0C5-794F-4F40-8903-191B61378A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F86D6A-56FB-4D95-B15A-7E81E94ED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四角形: 角を丸くする 80">
            <a:extLst>
              <a:ext uri="{FF2B5EF4-FFF2-40B4-BE49-F238E27FC236}">
                <a16:creationId xmlns:a16="http://schemas.microsoft.com/office/drawing/2014/main" id="{2EA2047C-10E5-4D86-8E7D-60322D2D571F}"/>
              </a:ext>
            </a:extLst>
          </p:cNvPr>
          <p:cNvSpPr/>
          <p:nvPr/>
        </p:nvSpPr>
        <p:spPr>
          <a:xfrm>
            <a:off x="9334157" y="1163066"/>
            <a:ext cx="2798858" cy="5359179"/>
          </a:xfrm>
          <a:prstGeom prst="roundRect">
            <a:avLst>
              <a:gd name="adj" fmla="val 757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80" name="四角形: 角を丸くする 79">
            <a:extLst>
              <a:ext uri="{FF2B5EF4-FFF2-40B4-BE49-F238E27FC236}">
                <a16:creationId xmlns:a16="http://schemas.microsoft.com/office/drawing/2014/main" id="{8091C672-2DB7-4BAB-86BB-F76427200C50}"/>
              </a:ext>
            </a:extLst>
          </p:cNvPr>
          <p:cNvSpPr/>
          <p:nvPr/>
        </p:nvSpPr>
        <p:spPr>
          <a:xfrm>
            <a:off x="6250051" y="1163066"/>
            <a:ext cx="2798858" cy="5359179"/>
          </a:xfrm>
          <a:prstGeom prst="roundRect">
            <a:avLst>
              <a:gd name="adj" fmla="val 8144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79" name="四角形: 角を丸くする 78">
            <a:extLst>
              <a:ext uri="{FF2B5EF4-FFF2-40B4-BE49-F238E27FC236}">
                <a16:creationId xmlns:a16="http://schemas.microsoft.com/office/drawing/2014/main" id="{42D45C3B-2BDF-402C-8E00-EBB6B2542C3F}"/>
              </a:ext>
            </a:extLst>
          </p:cNvPr>
          <p:cNvSpPr/>
          <p:nvPr/>
        </p:nvSpPr>
        <p:spPr>
          <a:xfrm>
            <a:off x="3130163" y="1163067"/>
            <a:ext cx="2798858" cy="5359179"/>
          </a:xfrm>
          <a:prstGeom prst="roundRect">
            <a:avLst>
              <a:gd name="adj" fmla="val 644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CA617656-12E4-4C1D-9595-5AC057B711FB}"/>
              </a:ext>
            </a:extLst>
          </p:cNvPr>
          <p:cNvSpPr/>
          <p:nvPr/>
        </p:nvSpPr>
        <p:spPr>
          <a:xfrm>
            <a:off x="3192451" y="1781945"/>
            <a:ext cx="2675613" cy="44818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41E9D2AB-B8EE-4B65-8C6A-3E249B8ED318}"/>
              </a:ext>
            </a:extLst>
          </p:cNvPr>
          <p:cNvSpPr/>
          <p:nvPr/>
        </p:nvSpPr>
        <p:spPr>
          <a:xfrm>
            <a:off x="6315987" y="1781945"/>
            <a:ext cx="2675613" cy="44818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E735A631-2134-49B2-A0DD-327E5B2C7245}"/>
              </a:ext>
            </a:extLst>
          </p:cNvPr>
          <p:cNvSpPr/>
          <p:nvPr/>
        </p:nvSpPr>
        <p:spPr>
          <a:xfrm>
            <a:off x="9403741" y="1781945"/>
            <a:ext cx="2675613" cy="44818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78" name="四角形: 角を丸くする 77">
            <a:extLst>
              <a:ext uri="{FF2B5EF4-FFF2-40B4-BE49-F238E27FC236}">
                <a16:creationId xmlns:a16="http://schemas.microsoft.com/office/drawing/2014/main" id="{DF5F9D61-5B88-489F-A997-FC5B083AB90D}"/>
              </a:ext>
            </a:extLst>
          </p:cNvPr>
          <p:cNvSpPr/>
          <p:nvPr/>
        </p:nvSpPr>
        <p:spPr>
          <a:xfrm>
            <a:off x="63613" y="1165055"/>
            <a:ext cx="2798858" cy="5359179"/>
          </a:xfrm>
          <a:prstGeom prst="roundRect">
            <a:avLst>
              <a:gd name="adj" fmla="val 686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BBF575CF-0986-4B1B-8FA6-C9253BBB20ED}"/>
              </a:ext>
            </a:extLst>
          </p:cNvPr>
          <p:cNvSpPr/>
          <p:nvPr/>
        </p:nvSpPr>
        <p:spPr>
          <a:xfrm>
            <a:off x="124571" y="1781945"/>
            <a:ext cx="2675613" cy="44818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C877B49-018A-4B53-B3F0-CA3B3406E517}"/>
              </a:ext>
            </a:extLst>
          </p:cNvPr>
          <p:cNvSpPr/>
          <p:nvPr/>
        </p:nvSpPr>
        <p:spPr>
          <a:xfrm>
            <a:off x="3192452" y="1412208"/>
            <a:ext cx="2675613" cy="4701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latin typeface="Ubuntu Mono Medium" panose="020B0309030602030204" pitchFamily="49" charset="0"/>
                <a:ea typeface="851ゴチカクット" panose="02000600000000000000" pitchFamily="2" charset="-128"/>
              </a:rPr>
              <a:t>Truck</a:t>
            </a:r>
            <a:r>
              <a:rPr lang="ja-JP" altLang="en-US" sz="1600" dirty="0">
                <a:latin typeface="Ubuntu Mono Medium" panose="020B0309030602030204" pitchFamily="49" charset="0"/>
                <a:ea typeface="851ゴチカクット" panose="02000600000000000000" pitchFamily="2" charset="-128"/>
              </a:rPr>
              <a:t> </a:t>
            </a:r>
            <a:r>
              <a:rPr lang="en-US" altLang="ja-JP" sz="1600" dirty="0">
                <a:latin typeface="Ubuntu Mono Medium" panose="020B0309030602030204" pitchFamily="49" charset="0"/>
                <a:ea typeface="851ゴチカクット" panose="02000600000000000000" pitchFamily="2" charset="-128"/>
              </a:rPr>
              <a:t>Tracker</a:t>
            </a:r>
            <a:endParaRPr lang="ja-JP" altLang="en-US" sz="1600" dirty="0">
              <a:latin typeface="Ubuntu Mono Medium" panose="020B0309030602030204" pitchFamily="49" charset="0"/>
              <a:ea typeface="851ゴチカクット" panose="02000600000000000000" pitchFamily="2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0939CEF8-31BF-42FC-891E-D140BBA32A60}"/>
              </a:ext>
            </a:extLst>
          </p:cNvPr>
          <p:cNvSpPr/>
          <p:nvPr/>
        </p:nvSpPr>
        <p:spPr>
          <a:xfrm>
            <a:off x="3510504" y="5239257"/>
            <a:ext cx="2039510" cy="45587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出発 ＞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04AA8CD-2731-4B14-98CF-DF89DC2028C9}"/>
              </a:ext>
            </a:extLst>
          </p:cNvPr>
          <p:cNvSpPr/>
          <p:nvPr/>
        </p:nvSpPr>
        <p:spPr>
          <a:xfrm>
            <a:off x="6315988" y="1412208"/>
            <a:ext cx="2675613" cy="4701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latin typeface="Ubuntu Mono Medium" panose="020B0309030602030204" pitchFamily="49" charset="0"/>
                <a:ea typeface="851ゴチカクット" panose="02000600000000000000" pitchFamily="2" charset="-128"/>
              </a:rPr>
              <a:t>Truck</a:t>
            </a:r>
            <a:r>
              <a:rPr lang="ja-JP" altLang="en-US" sz="1600" dirty="0">
                <a:latin typeface="Ubuntu Mono Medium" panose="020B0309030602030204" pitchFamily="49" charset="0"/>
                <a:ea typeface="851ゴチカクット" panose="02000600000000000000" pitchFamily="2" charset="-128"/>
              </a:rPr>
              <a:t> </a:t>
            </a:r>
            <a:r>
              <a:rPr lang="en-US" altLang="ja-JP" sz="1600" dirty="0">
                <a:latin typeface="Ubuntu Mono Medium" panose="020B0309030602030204" pitchFamily="49" charset="0"/>
                <a:ea typeface="851ゴチカクット" panose="02000600000000000000" pitchFamily="2" charset="-128"/>
              </a:rPr>
              <a:t>Tracker</a:t>
            </a:r>
            <a:endParaRPr lang="ja-JP" altLang="en-US" sz="1600" dirty="0">
              <a:latin typeface="Ubuntu Mono Medium" panose="020B0309030602030204" pitchFamily="49" charset="0"/>
              <a:ea typeface="851ゴチカクット" panose="02000600000000000000" pitchFamily="2" charset="-128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1ABB2914-8526-4225-9F94-01870A55EA59}"/>
              </a:ext>
            </a:extLst>
          </p:cNvPr>
          <p:cNvSpPr/>
          <p:nvPr/>
        </p:nvSpPr>
        <p:spPr>
          <a:xfrm>
            <a:off x="6634041" y="1960847"/>
            <a:ext cx="2039510" cy="296849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55</a:t>
            </a:r>
            <a:r>
              <a:rPr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号車</a:t>
            </a:r>
            <a:endParaRPr kumimoji="1" lang="ja-JP" altLang="en-US" sz="12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9EB6D16A-2674-44EE-A7F4-D4CEF945870F}"/>
              </a:ext>
            </a:extLst>
          </p:cNvPr>
          <p:cNvSpPr/>
          <p:nvPr/>
        </p:nvSpPr>
        <p:spPr>
          <a:xfrm>
            <a:off x="6634040" y="2372989"/>
            <a:ext cx="2039510" cy="296849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月曜朝一市内便</a:t>
            </a: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EEA37BAF-7284-4723-83CD-F69D57FA28AA}"/>
              </a:ext>
            </a:extLst>
          </p:cNvPr>
          <p:cNvSpPr/>
          <p:nvPr/>
        </p:nvSpPr>
        <p:spPr>
          <a:xfrm>
            <a:off x="6634040" y="3083309"/>
            <a:ext cx="2039510" cy="296849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フロムエー</a:t>
            </a: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2D4BD569-68D5-4CC5-A837-F6489FB2098C}"/>
              </a:ext>
            </a:extLst>
          </p:cNvPr>
          <p:cNvSpPr/>
          <p:nvPr/>
        </p:nvSpPr>
        <p:spPr>
          <a:xfrm>
            <a:off x="6634040" y="5239257"/>
            <a:ext cx="2039510" cy="45587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到着 ＞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77D01E9D-77DB-46D1-9E4C-DF4A2A272B20}"/>
              </a:ext>
            </a:extLst>
          </p:cNvPr>
          <p:cNvSpPr/>
          <p:nvPr/>
        </p:nvSpPr>
        <p:spPr>
          <a:xfrm>
            <a:off x="124572" y="1412208"/>
            <a:ext cx="2675613" cy="4701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latin typeface="Ubuntu Mono Medium" panose="020B0309030602030204" pitchFamily="49" charset="0"/>
                <a:ea typeface="851ゴチカクット" panose="02000600000000000000" pitchFamily="2" charset="-128"/>
              </a:rPr>
              <a:t>Truck</a:t>
            </a:r>
            <a:r>
              <a:rPr kumimoji="1" lang="ja-JP" altLang="en-US" sz="1600" dirty="0">
                <a:latin typeface="Ubuntu Mono Medium" panose="020B0309030602030204" pitchFamily="49" charset="0"/>
                <a:ea typeface="851ゴチカクット" panose="02000600000000000000" pitchFamily="2" charset="-128"/>
              </a:rPr>
              <a:t> </a:t>
            </a:r>
            <a:r>
              <a:rPr kumimoji="1" lang="en-US" altLang="ja-JP" sz="1600" dirty="0">
                <a:latin typeface="Ubuntu Mono Medium" panose="020B0309030602030204" pitchFamily="49" charset="0"/>
                <a:ea typeface="851ゴチカクット" panose="02000600000000000000" pitchFamily="2" charset="-128"/>
              </a:rPr>
              <a:t>Tracker</a:t>
            </a:r>
            <a:endParaRPr kumimoji="1" lang="ja-JP" altLang="en-US" sz="1600" dirty="0">
              <a:latin typeface="Ubuntu Mono Medium" panose="020B0309030602030204" pitchFamily="49" charset="0"/>
              <a:ea typeface="851ゴチカクット" panose="02000600000000000000" pitchFamily="2" charset="-128"/>
            </a:endParaRPr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A570FB50-9F8C-410E-994A-E030CAEBDFD8}"/>
              </a:ext>
            </a:extLst>
          </p:cNvPr>
          <p:cNvGrpSpPr/>
          <p:nvPr/>
        </p:nvGrpSpPr>
        <p:grpSpPr>
          <a:xfrm>
            <a:off x="442625" y="2469736"/>
            <a:ext cx="2039510" cy="296849"/>
            <a:chOff x="1550505" y="1930841"/>
            <a:chExt cx="2039510" cy="296849"/>
          </a:xfrm>
          <a:solidFill>
            <a:schemeClr val="bg1">
              <a:lumMod val="95000"/>
            </a:schemeClr>
          </a:solidFill>
        </p:grpSpPr>
        <p:sp>
          <p:nvSpPr>
            <p:cNvPr id="35" name="四角形: 角を丸くする 34">
              <a:extLst>
                <a:ext uri="{FF2B5EF4-FFF2-40B4-BE49-F238E27FC236}">
                  <a16:creationId xmlns:a16="http://schemas.microsoft.com/office/drawing/2014/main" id="{497D15AE-E1DE-4DF4-93BA-355F25F7C820}"/>
                </a:ext>
              </a:extLst>
            </p:cNvPr>
            <p:cNvSpPr/>
            <p:nvPr/>
          </p:nvSpPr>
          <p:spPr>
            <a:xfrm>
              <a:off x="1550505" y="1930841"/>
              <a:ext cx="2039510" cy="296849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sz="1200" dirty="0">
                  <a:solidFill>
                    <a:schemeClr val="tx1"/>
                  </a:solidFill>
                  <a:latin typeface="MS UI Gothic" panose="020B0600070205080204" pitchFamily="50" charset="-128"/>
                  <a:ea typeface="MS UI Gothic" panose="020B0600070205080204" pitchFamily="50" charset="-128"/>
                </a:rPr>
                <a:t>55</a:t>
              </a:r>
              <a:r>
                <a:rPr lang="ja-JP" altLang="en-US" sz="1200" dirty="0">
                  <a:solidFill>
                    <a:schemeClr val="tx1"/>
                  </a:solidFill>
                  <a:latin typeface="MS UI Gothic" panose="020B0600070205080204" pitchFamily="50" charset="-128"/>
                  <a:ea typeface="MS UI Gothic" panose="020B0600070205080204" pitchFamily="50" charset="-128"/>
                </a:rPr>
                <a:t>号車</a:t>
              </a:r>
              <a:endPara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endParaRPr>
            </a:p>
          </p:txBody>
        </p:sp>
        <p:sp>
          <p:nvSpPr>
            <p:cNvPr id="36" name="四角形: 角を丸くする 35">
              <a:extLst>
                <a:ext uri="{FF2B5EF4-FFF2-40B4-BE49-F238E27FC236}">
                  <a16:creationId xmlns:a16="http://schemas.microsoft.com/office/drawing/2014/main" id="{402FD717-C4D7-4F00-AADB-9EB4ED2E05E5}"/>
                </a:ext>
              </a:extLst>
            </p:cNvPr>
            <p:cNvSpPr/>
            <p:nvPr/>
          </p:nvSpPr>
          <p:spPr>
            <a:xfrm>
              <a:off x="3317020" y="1940117"/>
              <a:ext cx="272995" cy="243840"/>
            </a:xfrm>
            <a:prstGeom prst="roundRect">
              <a:avLst/>
            </a:pr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sz="1200" dirty="0">
                  <a:solidFill>
                    <a:schemeClr val="tx1"/>
                  </a:solidFill>
                  <a:latin typeface="MS UI Gothic" panose="020B0600070205080204" pitchFamily="50" charset="-128"/>
                  <a:ea typeface="MS UI Gothic" panose="020B0600070205080204" pitchFamily="50" charset="-128"/>
                </a:rPr>
                <a:t>v</a:t>
              </a:r>
              <a:endPara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endParaRPr>
            </a:p>
          </p:txBody>
        </p:sp>
      </p:grp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404911DD-99B3-4966-A143-5DF6ACAF02E4}"/>
              </a:ext>
            </a:extLst>
          </p:cNvPr>
          <p:cNvSpPr/>
          <p:nvPr/>
        </p:nvSpPr>
        <p:spPr>
          <a:xfrm>
            <a:off x="442622" y="5229980"/>
            <a:ext cx="2039510" cy="45587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次へ ＞</a:t>
            </a:r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95EB06A4-664A-4912-8A46-F1C279FD5C60}"/>
              </a:ext>
            </a:extLst>
          </p:cNvPr>
          <p:cNvSpPr/>
          <p:nvPr/>
        </p:nvSpPr>
        <p:spPr>
          <a:xfrm>
            <a:off x="3511166" y="1970123"/>
            <a:ext cx="2039510" cy="296849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55</a:t>
            </a:r>
            <a:r>
              <a:rPr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号車</a:t>
            </a:r>
            <a:endParaRPr kumimoji="1" lang="ja-JP" altLang="en-US" sz="12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038624AC-9CDC-4606-A04D-2DA2E1928E44}"/>
              </a:ext>
            </a:extLst>
          </p:cNvPr>
          <p:cNvSpPr/>
          <p:nvPr/>
        </p:nvSpPr>
        <p:spPr>
          <a:xfrm>
            <a:off x="3511165" y="2382265"/>
            <a:ext cx="2039510" cy="296849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月曜朝一市内便</a:t>
            </a:r>
          </a:p>
        </p:txBody>
      </p: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70CC6EDC-C033-4A99-A37F-A3C6752167F2}"/>
              </a:ext>
            </a:extLst>
          </p:cNvPr>
          <p:cNvGrpSpPr/>
          <p:nvPr/>
        </p:nvGrpSpPr>
        <p:grpSpPr>
          <a:xfrm>
            <a:off x="442625" y="2881878"/>
            <a:ext cx="2039510" cy="296849"/>
            <a:chOff x="1550505" y="1930841"/>
            <a:chExt cx="2039510" cy="296849"/>
          </a:xfrm>
          <a:solidFill>
            <a:schemeClr val="bg1">
              <a:lumMod val="95000"/>
            </a:schemeClr>
          </a:solidFill>
        </p:grpSpPr>
        <p:sp>
          <p:nvSpPr>
            <p:cNvPr id="49" name="四角形: 角を丸くする 48">
              <a:extLst>
                <a:ext uri="{FF2B5EF4-FFF2-40B4-BE49-F238E27FC236}">
                  <a16:creationId xmlns:a16="http://schemas.microsoft.com/office/drawing/2014/main" id="{0E4DC878-9F36-44C1-82B4-C41130878632}"/>
                </a:ext>
              </a:extLst>
            </p:cNvPr>
            <p:cNvSpPr/>
            <p:nvPr/>
          </p:nvSpPr>
          <p:spPr>
            <a:xfrm>
              <a:off x="1550505" y="1930841"/>
              <a:ext cx="2039510" cy="296849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200" dirty="0">
                  <a:solidFill>
                    <a:schemeClr val="tx1"/>
                  </a:solidFill>
                  <a:latin typeface="MS UI Gothic" panose="020B0600070205080204" pitchFamily="50" charset="-128"/>
                  <a:ea typeface="MS UI Gothic" panose="020B0600070205080204" pitchFamily="50" charset="-128"/>
                </a:rPr>
                <a:t>月曜朝一市内便</a:t>
              </a:r>
            </a:p>
          </p:txBody>
        </p:sp>
        <p:sp>
          <p:nvSpPr>
            <p:cNvPr id="50" name="四角形: 角を丸くする 49">
              <a:extLst>
                <a:ext uri="{FF2B5EF4-FFF2-40B4-BE49-F238E27FC236}">
                  <a16:creationId xmlns:a16="http://schemas.microsoft.com/office/drawing/2014/main" id="{98BB28DE-5A20-42EB-BECF-122E441EED00}"/>
                </a:ext>
              </a:extLst>
            </p:cNvPr>
            <p:cNvSpPr/>
            <p:nvPr/>
          </p:nvSpPr>
          <p:spPr>
            <a:xfrm>
              <a:off x="3317020" y="1957345"/>
              <a:ext cx="272995" cy="243840"/>
            </a:xfrm>
            <a:prstGeom prst="roundRect">
              <a:avLst/>
            </a:pr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sz="1200" dirty="0">
                  <a:solidFill>
                    <a:schemeClr val="tx1"/>
                  </a:solidFill>
                  <a:latin typeface="MS UI Gothic" panose="020B0600070205080204" pitchFamily="50" charset="-128"/>
                  <a:ea typeface="MS UI Gothic" panose="020B0600070205080204" pitchFamily="50" charset="-128"/>
                </a:rPr>
                <a:t>v</a:t>
              </a:r>
              <a:endPara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endParaRPr>
            </a:p>
          </p:txBody>
        </p:sp>
      </p:grp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7411DF0C-B256-4E9B-A976-41B06F9ABCC1}"/>
              </a:ext>
            </a:extLst>
          </p:cNvPr>
          <p:cNvSpPr/>
          <p:nvPr/>
        </p:nvSpPr>
        <p:spPr>
          <a:xfrm>
            <a:off x="9403742" y="1412208"/>
            <a:ext cx="2675613" cy="4701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latin typeface="Ubuntu Mono Medium" panose="020B0309030602030204" pitchFamily="49" charset="0"/>
                <a:ea typeface="851ゴチカクット" panose="02000600000000000000" pitchFamily="2" charset="-128"/>
              </a:rPr>
              <a:t>Truck</a:t>
            </a:r>
            <a:r>
              <a:rPr lang="ja-JP" altLang="en-US" sz="1600" dirty="0">
                <a:latin typeface="Ubuntu Mono Medium" panose="020B0309030602030204" pitchFamily="49" charset="0"/>
                <a:ea typeface="851ゴチカクット" panose="02000600000000000000" pitchFamily="2" charset="-128"/>
              </a:rPr>
              <a:t> </a:t>
            </a:r>
            <a:r>
              <a:rPr lang="en-US" altLang="ja-JP" sz="1600" dirty="0">
                <a:latin typeface="Ubuntu Mono Medium" panose="020B0309030602030204" pitchFamily="49" charset="0"/>
                <a:ea typeface="851ゴチカクット" panose="02000600000000000000" pitchFamily="2" charset="-128"/>
              </a:rPr>
              <a:t>Tracker</a:t>
            </a:r>
            <a:endParaRPr lang="ja-JP" altLang="en-US" sz="1600" dirty="0">
              <a:latin typeface="Ubuntu Mono Medium" panose="020B0309030602030204" pitchFamily="49" charset="0"/>
              <a:ea typeface="851ゴチカクット" panose="02000600000000000000" pitchFamily="2" charset="-128"/>
            </a:endParaRPr>
          </a:p>
        </p:txBody>
      </p:sp>
      <p:sp>
        <p:nvSpPr>
          <p:cNvPr id="52" name="四角形: 角を丸くする 51">
            <a:extLst>
              <a:ext uri="{FF2B5EF4-FFF2-40B4-BE49-F238E27FC236}">
                <a16:creationId xmlns:a16="http://schemas.microsoft.com/office/drawing/2014/main" id="{42EA48DC-8C85-4716-AAC4-4212B1351D20}"/>
              </a:ext>
            </a:extLst>
          </p:cNvPr>
          <p:cNvSpPr/>
          <p:nvPr/>
        </p:nvSpPr>
        <p:spPr>
          <a:xfrm>
            <a:off x="9721795" y="1960847"/>
            <a:ext cx="2039510" cy="296849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55</a:t>
            </a:r>
            <a:r>
              <a:rPr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号車</a:t>
            </a:r>
            <a:endParaRPr kumimoji="1" lang="ja-JP" altLang="en-US" sz="12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53" name="四角形: 角を丸くする 52">
            <a:extLst>
              <a:ext uri="{FF2B5EF4-FFF2-40B4-BE49-F238E27FC236}">
                <a16:creationId xmlns:a16="http://schemas.microsoft.com/office/drawing/2014/main" id="{340AFCB0-C9AF-43AF-AD67-937BFBA366B6}"/>
              </a:ext>
            </a:extLst>
          </p:cNvPr>
          <p:cNvSpPr/>
          <p:nvPr/>
        </p:nvSpPr>
        <p:spPr>
          <a:xfrm>
            <a:off x="9721794" y="2372989"/>
            <a:ext cx="2039510" cy="296849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月曜朝一市内便</a:t>
            </a:r>
          </a:p>
        </p:txBody>
      </p:sp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5BDDC0ED-0A26-43BD-9858-BCE38BA53DFE}"/>
              </a:ext>
            </a:extLst>
          </p:cNvPr>
          <p:cNvSpPr/>
          <p:nvPr/>
        </p:nvSpPr>
        <p:spPr>
          <a:xfrm>
            <a:off x="9721794" y="3083309"/>
            <a:ext cx="2039510" cy="296849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フロムエー</a:t>
            </a:r>
          </a:p>
        </p:txBody>
      </p: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2E20DE78-BE13-4F58-9303-17642095E459}"/>
              </a:ext>
            </a:extLst>
          </p:cNvPr>
          <p:cNvSpPr/>
          <p:nvPr/>
        </p:nvSpPr>
        <p:spPr>
          <a:xfrm>
            <a:off x="9721794" y="5239257"/>
            <a:ext cx="2039510" cy="45587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出発 ＞</a:t>
            </a:r>
            <a:endParaRPr kumimoji="1" lang="ja-JP" altLang="en-US" sz="12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C25FFA0E-6528-47D5-8C79-62BF3999BEF1}"/>
              </a:ext>
            </a:extLst>
          </p:cNvPr>
          <p:cNvSpPr/>
          <p:nvPr/>
        </p:nvSpPr>
        <p:spPr>
          <a:xfrm>
            <a:off x="9721794" y="3651153"/>
            <a:ext cx="2039510" cy="296849"/>
          </a:xfrm>
          <a:prstGeom prst="roundRect">
            <a:avLst>
              <a:gd name="adj" fmla="val 7292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ja-JP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12.3</a:t>
            </a:r>
            <a:r>
              <a:rPr kumimoji="1" lang="ja-JP" altLang="en-US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 </a:t>
            </a:r>
            <a:r>
              <a: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  </a:t>
            </a:r>
            <a:r>
              <a:rPr kumimoji="1" lang="en-US" altLang="ja-JP" sz="105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kg</a:t>
            </a:r>
            <a:endParaRPr kumimoji="1" lang="ja-JP" altLang="en-US" sz="12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sp>
        <p:nvSpPr>
          <p:cNvPr id="59" name="四角形: 角を丸くする 58">
            <a:extLst>
              <a:ext uri="{FF2B5EF4-FFF2-40B4-BE49-F238E27FC236}">
                <a16:creationId xmlns:a16="http://schemas.microsoft.com/office/drawing/2014/main" id="{A0DCFFB6-88F1-4D4C-A5E5-EF0655CD4489}"/>
              </a:ext>
            </a:extLst>
          </p:cNvPr>
          <p:cNvSpPr/>
          <p:nvPr/>
        </p:nvSpPr>
        <p:spPr>
          <a:xfrm>
            <a:off x="9602534" y="3479548"/>
            <a:ext cx="758020" cy="119265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8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配達重量</a:t>
            </a:r>
          </a:p>
        </p:txBody>
      </p:sp>
      <p:sp>
        <p:nvSpPr>
          <p:cNvPr id="63" name="矢印: 上カーブ 62">
            <a:extLst>
              <a:ext uri="{FF2B5EF4-FFF2-40B4-BE49-F238E27FC236}">
                <a16:creationId xmlns:a16="http://schemas.microsoft.com/office/drawing/2014/main" id="{55E3786A-48A5-4966-9D02-AB5EAF3431AB}"/>
              </a:ext>
            </a:extLst>
          </p:cNvPr>
          <p:cNvSpPr/>
          <p:nvPr/>
        </p:nvSpPr>
        <p:spPr>
          <a:xfrm flipH="1">
            <a:off x="8301702" y="5846816"/>
            <a:ext cx="1858198" cy="94642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8" name="二等辺三角形 67">
            <a:extLst>
              <a:ext uri="{FF2B5EF4-FFF2-40B4-BE49-F238E27FC236}">
                <a16:creationId xmlns:a16="http://schemas.microsoft.com/office/drawing/2014/main" id="{72AC0EF7-683D-4CCD-8352-8E4087295245}"/>
              </a:ext>
            </a:extLst>
          </p:cNvPr>
          <p:cNvSpPr/>
          <p:nvPr/>
        </p:nvSpPr>
        <p:spPr>
          <a:xfrm rot="5400000">
            <a:off x="2815099" y="3643862"/>
            <a:ext cx="434011" cy="18089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二等辺三角形 68">
            <a:extLst>
              <a:ext uri="{FF2B5EF4-FFF2-40B4-BE49-F238E27FC236}">
                <a16:creationId xmlns:a16="http://schemas.microsoft.com/office/drawing/2014/main" id="{CF942E0C-5941-40BA-99C2-8394C4F23E77}"/>
              </a:ext>
            </a:extLst>
          </p:cNvPr>
          <p:cNvSpPr/>
          <p:nvPr/>
        </p:nvSpPr>
        <p:spPr>
          <a:xfrm rot="5400000">
            <a:off x="5880983" y="3643863"/>
            <a:ext cx="434011" cy="18089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二等辺三角形 69">
            <a:extLst>
              <a:ext uri="{FF2B5EF4-FFF2-40B4-BE49-F238E27FC236}">
                <a16:creationId xmlns:a16="http://schemas.microsoft.com/office/drawing/2014/main" id="{CE9B1562-8CB3-47F6-B8A9-F5FB2980A0EA}"/>
              </a:ext>
            </a:extLst>
          </p:cNvPr>
          <p:cNvSpPr/>
          <p:nvPr/>
        </p:nvSpPr>
        <p:spPr>
          <a:xfrm rot="5400000">
            <a:off x="9013796" y="3643864"/>
            <a:ext cx="434011" cy="18089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四角形: 角を丸くする 70">
            <a:extLst>
              <a:ext uri="{FF2B5EF4-FFF2-40B4-BE49-F238E27FC236}">
                <a16:creationId xmlns:a16="http://schemas.microsoft.com/office/drawing/2014/main" id="{C2672E24-684D-4157-984D-3FD3B803779E}"/>
              </a:ext>
            </a:extLst>
          </p:cNvPr>
          <p:cNvSpPr/>
          <p:nvPr/>
        </p:nvSpPr>
        <p:spPr>
          <a:xfrm>
            <a:off x="9602534" y="2940833"/>
            <a:ext cx="758020" cy="119265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8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行先</a:t>
            </a:r>
          </a:p>
        </p:txBody>
      </p:sp>
      <p:sp>
        <p:nvSpPr>
          <p:cNvPr id="72" name="四角形: 角を丸くする 71">
            <a:extLst>
              <a:ext uri="{FF2B5EF4-FFF2-40B4-BE49-F238E27FC236}">
                <a16:creationId xmlns:a16="http://schemas.microsoft.com/office/drawing/2014/main" id="{FC4C159E-9283-4FCC-99AA-BFC342ACA612}"/>
              </a:ext>
            </a:extLst>
          </p:cNvPr>
          <p:cNvSpPr/>
          <p:nvPr/>
        </p:nvSpPr>
        <p:spPr>
          <a:xfrm>
            <a:off x="6634040" y="2940833"/>
            <a:ext cx="758020" cy="119265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8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行先</a:t>
            </a:r>
          </a:p>
        </p:txBody>
      </p:sp>
      <p:sp>
        <p:nvSpPr>
          <p:cNvPr id="73" name="四角形: 角を丸くする 72">
            <a:extLst>
              <a:ext uri="{FF2B5EF4-FFF2-40B4-BE49-F238E27FC236}">
                <a16:creationId xmlns:a16="http://schemas.microsoft.com/office/drawing/2014/main" id="{0500D224-68C7-4EEF-A376-66C1A4F28643}"/>
              </a:ext>
            </a:extLst>
          </p:cNvPr>
          <p:cNvSpPr/>
          <p:nvPr/>
        </p:nvSpPr>
        <p:spPr>
          <a:xfrm>
            <a:off x="3393883" y="2940833"/>
            <a:ext cx="758020" cy="119265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8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行先</a:t>
            </a:r>
          </a:p>
        </p:txBody>
      </p:sp>
      <p:sp>
        <p:nvSpPr>
          <p:cNvPr id="74" name="四角形: 角を丸くする 73">
            <a:extLst>
              <a:ext uri="{FF2B5EF4-FFF2-40B4-BE49-F238E27FC236}">
                <a16:creationId xmlns:a16="http://schemas.microsoft.com/office/drawing/2014/main" id="{328E95E4-E39B-497E-B155-A253226A87B6}"/>
              </a:ext>
            </a:extLst>
          </p:cNvPr>
          <p:cNvSpPr/>
          <p:nvPr/>
        </p:nvSpPr>
        <p:spPr>
          <a:xfrm>
            <a:off x="9602534" y="4057017"/>
            <a:ext cx="758020" cy="119265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8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次の行先</a:t>
            </a:r>
          </a:p>
        </p:txBody>
      </p:sp>
      <p:sp>
        <p:nvSpPr>
          <p:cNvPr id="75" name="四角形: 角を丸くする 74">
            <a:extLst>
              <a:ext uri="{FF2B5EF4-FFF2-40B4-BE49-F238E27FC236}">
                <a16:creationId xmlns:a16="http://schemas.microsoft.com/office/drawing/2014/main" id="{7A7401B6-B73D-4D3A-9A63-CAB24AF14EAE}"/>
              </a:ext>
            </a:extLst>
          </p:cNvPr>
          <p:cNvSpPr/>
          <p:nvPr/>
        </p:nvSpPr>
        <p:spPr>
          <a:xfrm>
            <a:off x="3710555" y="329455"/>
            <a:ext cx="2211221" cy="455877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行先</a:t>
            </a:r>
            <a:r>
              <a:rPr lang="ja-JP" altLang="en-US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を</a:t>
            </a:r>
            <a:r>
              <a:rPr kumimoji="1" lang="ja-JP" altLang="en-US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配送コースに設定されている届け先から選択して、「出発」をタップ</a:t>
            </a:r>
          </a:p>
        </p:txBody>
      </p:sp>
      <p:sp>
        <p:nvSpPr>
          <p:cNvPr id="76" name="四角形: 角を丸くする 75">
            <a:extLst>
              <a:ext uri="{FF2B5EF4-FFF2-40B4-BE49-F238E27FC236}">
                <a16:creationId xmlns:a16="http://schemas.microsoft.com/office/drawing/2014/main" id="{9C8EB59C-11C4-4C97-939A-895936775F45}"/>
              </a:ext>
            </a:extLst>
          </p:cNvPr>
          <p:cNvSpPr/>
          <p:nvPr/>
        </p:nvSpPr>
        <p:spPr>
          <a:xfrm>
            <a:off x="651249" y="329456"/>
            <a:ext cx="2211221" cy="455877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車輌とコースを選択</a:t>
            </a: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A3C8EE17-6BE8-46AB-B96E-589F04D55CAA}"/>
              </a:ext>
            </a:extLst>
          </p:cNvPr>
          <p:cNvGrpSpPr/>
          <p:nvPr/>
        </p:nvGrpSpPr>
        <p:grpSpPr>
          <a:xfrm>
            <a:off x="162421" y="1443797"/>
            <a:ext cx="2592045" cy="115491"/>
            <a:chOff x="162421" y="1030140"/>
            <a:chExt cx="2592045" cy="115491"/>
          </a:xfrm>
        </p:grpSpPr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10ED2782-E5F9-4145-8C88-045475FF2C7D}"/>
                </a:ext>
              </a:extLst>
            </p:cNvPr>
            <p:cNvGrpSpPr/>
            <p:nvPr/>
          </p:nvGrpSpPr>
          <p:grpSpPr>
            <a:xfrm>
              <a:off x="2582636" y="1056175"/>
              <a:ext cx="171830" cy="81504"/>
              <a:chOff x="2302329" y="1107881"/>
              <a:chExt cx="441251" cy="165747"/>
            </a:xfrm>
          </p:grpSpPr>
          <p:sp>
            <p:nvSpPr>
              <p:cNvPr id="2" name="正方形/長方形 1">
                <a:extLst>
                  <a:ext uri="{FF2B5EF4-FFF2-40B4-BE49-F238E27FC236}">
                    <a16:creationId xmlns:a16="http://schemas.microsoft.com/office/drawing/2014/main" id="{6339FF32-B2D6-4EAB-8BCB-3BF504FF6121}"/>
                  </a:ext>
                </a:extLst>
              </p:cNvPr>
              <p:cNvSpPr/>
              <p:nvPr/>
            </p:nvSpPr>
            <p:spPr>
              <a:xfrm>
                <a:off x="2302329" y="1107881"/>
                <a:ext cx="401274" cy="165747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7" name="正方形/長方形 56">
                <a:extLst>
                  <a:ext uri="{FF2B5EF4-FFF2-40B4-BE49-F238E27FC236}">
                    <a16:creationId xmlns:a16="http://schemas.microsoft.com/office/drawing/2014/main" id="{FAA8CAD7-467E-438B-A32B-F614FCA01EEA}"/>
                  </a:ext>
                </a:extLst>
              </p:cNvPr>
              <p:cNvSpPr/>
              <p:nvPr/>
            </p:nvSpPr>
            <p:spPr>
              <a:xfrm>
                <a:off x="2302329" y="1107881"/>
                <a:ext cx="271937" cy="16574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4" name="正方形/長方形 63">
                <a:extLst>
                  <a:ext uri="{FF2B5EF4-FFF2-40B4-BE49-F238E27FC236}">
                    <a16:creationId xmlns:a16="http://schemas.microsoft.com/office/drawing/2014/main" id="{96B692C5-D794-4BB2-9CCF-7BD3AFD913B4}"/>
                  </a:ext>
                </a:extLst>
              </p:cNvPr>
              <p:cNvSpPr/>
              <p:nvPr/>
            </p:nvSpPr>
            <p:spPr>
              <a:xfrm>
                <a:off x="2703603" y="1154210"/>
                <a:ext cx="39977" cy="7308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E501D646-9944-4384-9F48-86C242B2161D}"/>
                </a:ext>
              </a:extLst>
            </p:cNvPr>
            <p:cNvGrpSpPr/>
            <p:nvPr/>
          </p:nvGrpSpPr>
          <p:grpSpPr>
            <a:xfrm>
              <a:off x="162421" y="1030140"/>
              <a:ext cx="168947" cy="115491"/>
              <a:chOff x="8508546" y="1112530"/>
              <a:chExt cx="168947" cy="115491"/>
            </a:xfrm>
          </p:grpSpPr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1D3C187E-6766-42A6-A0E7-E7C3D17EFD8A}"/>
                  </a:ext>
                </a:extLst>
              </p:cNvPr>
              <p:cNvSpPr/>
              <p:nvPr/>
            </p:nvSpPr>
            <p:spPr>
              <a:xfrm>
                <a:off x="8508546" y="1162829"/>
                <a:ext cx="45719" cy="65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5" name="正方形/長方形 64">
                <a:extLst>
                  <a:ext uri="{FF2B5EF4-FFF2-40B4-BE49-F238E27FC236}">
                    <a16:creationId xmlns:a16="http://schemas.microsoft.com/office/drawing/2014/main" id="{81D893E8-5549-4F16-94CE-8462C9043004}"/>
                  </a:ext>
                </a:extLst>
              </p:cNvPr>
              <p:cNvSpPr/>
              <p:nvPr/>
            </p:nvSpPr>
            <p:spPr>
              <a:xfrm>
                <a:off x="8570160" y="1138622"/>
                <a:ext cx="45719" cy="893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6" name="正方形/長方形 65">
                <a:extLst>
                  <a:ext uri="{FF2B5EF4-FFF2-40B4-BE49-F238E27FC236}">
                    <a16:creationId xmlns:a16="http://schemas.microsoft.com/office/drawing/2014/main" id="{07D244C1-DDDC-44EA-8451-5CAC67C32342}"/>
                  </a:ext>
                </a:extLst>
              </p:cNvPr>
              <p:cNvSpPr/>
              <p:nvPr/>
            </p:nvSpPr>
            <p:spPr>
              <a:xfrm>
                <a:off x="8631774" y="1112530"/>
                <a:ext cx="45719" cy="1154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40373967-7555-4076-9A43-4249A9B1B1EB}"/>
              </a:ext>
            </a:extLst>
          </p:cNvPr>
          <p:cNvGrpSpPr/>
          <p:nvPr/>
        </p:nvGrpSpPr>
        <p:grpSpPr>
          <a:xfrm>
            <a:off x="3233569" y="1443797"/>
            <a:ext cx="2592045" cy="115491"/>
            <a:chOff x="162421" y="1030140"/>
            <a:chExt cx="2592045" cy="115491"/>
          </a:xfrm>
        </p:grpSpPr>
        <p:grpSp>
          <p:nvGrpSpPr>
            <p:cNvPr id="77" name="グループ化 76">
              <a:extLst>
                <a:ext uri="{FF2B5EF4-FFF2-40B4-BE49-F238E27FC236}">
                  <a16:creationId xmlns:a16="http://schemas.microsoft.com/office/drawing/2014/main" id="{B2B799BE-0219-44D9-9016-23CDA02EB025}"/>
                </a:ext>
              </a:extLst>
            </p:cNvPr>
            <p:cNvGrpSpPr/>
            <p:nvPr/>
          </p:nvGrpSpPr>
          <p:grpSpPr>
            <a:xfrm>
              <a:off x="2582636" y="1056175"/>
              <a:ext cx="171830" cy="81504"/>
              <a:chOff x="2302329" y="1107881"/>
              <a:chExt cx="441251" cy="165747"/>
            </a:xfrm>
          </p:grpSpPr>
          <p:sp>
            <p:nvSpPr>
              <p:cNvPr id="86" name="正方形/長方形 85">
                <a:extLst>
                  <a:ext uri="{FF2B5EF4-FFF2-40B4-BE49-F238E27FC236}">
                    <a16:creationId xmlns:a16="http://schemas.microsoft.com/office/drawing/2014/main" id="{8C602944-F75A-4F2A-A7AA-01CB4672CE00}"/>
                  </a:ext>
                </a:extLst>
              </p:cNvPr>
              <p:cNvSpPr/>
              <p:nvPr/>
            </p:nvSpPr>
            <p:spPr>
              <a:xfrm>
                <a:off x="2302329" y="1107881"/>
                <a:ext cx="401274" cy="165747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7" name="正方形/長方形 86">
                <a:extLst>
                  <a:ext uri="{FF2B5EF4-FFF2-40B4-BE49-F238E27FC236}">
                    <a16:creationId xmlns:a16="http://schemas.microsoft.com/office/drawing/2014/main" id="{19F3327F-9FA3-4A14-995C-BF677E5A8AC5}"/>
                  </a:ext>
                </a:extLst>
              </p:cNvPr>
              <p:cNvSpPr/>
              <p:nvPr/>
            </p:nvSpPr>
            <p:spPr>
              <a:xfrm>
                <a:off x="2302329" y="1107881"/>
                <a:ext cx="271937" cy="16574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8" name="正方形/長方形 87">
                <a:extLst>
                  <a:ext uri="{FF2B5EF4-FFF2-40B4-BE49-F238E27FC236}">
                    <a16:creationId xmlns:a16="http://schemas.microsoft.com/office/drawing/2014/main" id="{57E6F617-BDC0-4C95-AF61-C3F2230BCF2E}"/>
                  </a:ext>
                </a:extLst>
              </p:cNvPr>
              <p:cNvSpPr/>
              <p:nvPr/>
            </p:nvSpPr>
            <p:spPr>
              <a:xfrm>
                <a:off x="2703603" y="1154210"/>
                <a:ext cx="39977" cy="7308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82" name="グループ化 81">
              <a:extLst>
                <a:ext uri="{FF2B5EF4-FFF2-40B4-BE49-F238E27FC236}">
                  <a16:creationId xmlns:a16="http://schemas.microsoft.com/office/drawing/2014/main" id="{4B3473D6-3A25-48A8-9146-5D749928C61C}"/>
                </a:ext>
              </a:extLst>
            </p:cNvPr>
            <p:cNvGrpSpPr/>
            <p:nvPr/>
          </p:nvGrpSpPr>
          <p:grpSpPr>
            <a:xfrm>
              <a:off x="162421" y="1030140"/>
              <a:ext cx="168947" cy="115491"/>
              <a:chOff x="8508546" y="1112530"/>
              <a:chExt cx="168947" cy="115491"/>
            </a:xfrm>
          </p:grpSpPr>
          <p:sp>
            <p:nvSpPr>
              <p:cNvPr id="83" name="正方形/長方形 82">
                <a:extLst>
                  <a:ext uri="{FF2B5EF4-FFF2-40B4-BE49-F238E27FC236}">
                    <a16:creationId xmlns:a16="http://schemas.microsoft.com/office/drawing/2014/main" id="{2DD3ECEA-8A61-405A-A8C3-D219683AC774}"/>
                  </a:ext>
                </a:extLst>
              </p:cNvPr>
              <p:cNvSpPr/>
              <p:nvPr/>
            </p:nvSpPr>
            <p:spPr>
              <a:xfrm>
                <a:off x="8508546" y="1162829"/>
                <a:ext cx="45719" cy="65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4" name="正方形/長方形 83">
                <a:extLst>
                  <a:ext uri="{FF2B5EF4-FFF2-40B4-BE49-F238E27FC236}">
                    <a16:creationId xmlns:a16="http://schemas.microsoft.com/office/drawing/2014/main" id="{AE968972-122C-47FE-A300-4BC8F241FB16}"/>
                  </a:ext>
                </a:extLst>
              </p:cNvPr>
              <p:cNvSpPr/>
              <p:nvPr/>
            </p:nvSpPr>
            <p:spPr>
              <a:xfrm>
                <a:off x="8570160" y="1138622"/>
                <a:ext cx="45719" cy="893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5" name="正方形/長方形 84">
                <a:extLst>
                  <a:ext uri="{FF2B5EF4-FFF2-40B4-BE49-F238E27FC236}">
                    <a16:creationId xmlns:a16="http://schemas.microsoft.com/office/drawing/2014/main" id="{F4CFEFBE-A124-496C-9267-F934377AD605}"/>
                  </a:ext>
                </a:extLst>
              </p:cNvPr>
              <p:cNvSpPr/>
              <p:nvPr/>
            </p:nvSpPr>
            <p:spPr>
              <a:xfrm>
                <a:off x="8631774" y="1112530"/>
                <a:ext cx="45719" cy="1154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89" name="グループ化 88">
            <a:extLst>
              <a:ext uri="{FF2B5EF4-FFF2-40B4-BE49-F238E27FC236}">
                <a16:creationId xmlns:a16="http://schemas.microsoft.com/office/drawing/2014/main" id="{F0DEFA09-5E8B-4AD9-AECB-6D982AC023BA}"/>
              </a:ext>
            </a:extLst>
          </p:cNvPr>
          <p:cNvGrpSpPr/>
          <p:nvPr/>
        </p:nvGrpSpPr>
        <p:grpSpPr>
          <a:xfrm>
            <a:off x="6353457" y="1443797"/>
            <a:ext cx="2592045" cy="115491"/>
            <a:chOff x="162421" y="1030140"/>
            <a:chExt cx="2592045" cy="115491"/>
          </a:xfrm>
        </p:grpSpPr>
        <p:grpSp>
          <p:nvGrpSpPr>
            <p:cNvPr id="90" name="グループ化 89">
              <a:extLst>
                <a:ext uri="{FF2B5EF4-FFF2-40B4-BE49-F238E27FC236}">
                  <a16:creationId xmlns:a16="http://schemas.microsoft.com/office/drawing/2014/main" id="{E181A635-8716-405A-B704-F3C6C1EDC32C}"/>
                </a:ext>
              </a:extLst>
            </p:cNvPr>
            <p:cNvGrpSpPr/>
            <p:nvPr/>
          </p:nvGrpSpPr>
          <p:grpSpPr>
            <a:xfrm>
              <a:off x="2582636" y="1056175"/>
              <a:ext cx="171830" cy="81504"/>
              <a:chOff x="2302329" y="1107881"/>
              <a:chExt cx="441251" cy="165747"/>
            </a:xfrm>
          </p:grpSpPr>
          <p:sp>
            <p:nvSpPr>
              <p:cNvPr id="95" name="正方形/長方形 94">
                <a:extLst>
                  <a:ext uri="{FF2B5EF4-FFF2-40B4-BE49-F238E27FC236}">
                    <a16:creationId xmlns:a16="http://schemas.microsoft.com/office/drawing/2014/main" id="{E643E1E9-D722-4BCB-9220-C2A0DD3B10EB}"/>
                  </a:ext>
                </a:extLst>
              </p:cNvPr>
              <p:cNvSpPr/>
              <p:nvPr/>
            </p:nvSpPr>
            <p:spPr>
              <a:xfrm>
                <a:off x="2302329" y="1107881"/>
                <a:ext cx="401274" cy="165747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6" name="正方形/長方形 95">
                <a:extLst>
                  <a:ext uri="{FF2B5EF4-FFF2-40B4-BE49-F238E27FC236}">
                    <a16:creationId xmlns:a16="http://schemas.microsoft.com/office/drawing/2014/main" id="{AF8C9D7A-F0D0-4242-AA56-ECFC7E8674F3}"/>
                  </a:ext>
                </a:extLst>
              </p:cNvPr>
              <p:cNvSpPr/>
              <p:nvPr/>
            </p:nvSpPr>
            <p:spPr>
              <a:xfrm>
                <a:off x="2302329" y="1107881"/>
                <a:ext cx="271937" cy="16574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7" name="正方形/長方形 96">
                <a:extLst>
                  <a:ext uri="{FF2B5EF4-FFF2-40B4-BE49-F238E27FC236}">
                    <a16:creationId xmlns:a16="http://schemas.microsoft.com/office/drawing/2014/main" id="{866E13CB-71DA-4110-A246-C02684DDFA96}"/>
                  </a:ext>
                </a:extLst>
              </p:cNvPr>
              <p:cNvSpPr/>
              <p:nvPr/>
            </p:nvSpPr>
            <p:spPr>
              <a:xfrm>
                <a:off x="2703603" y="1154210"/>
                <a:ext cx="39977" cy="7308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91" name="グループ化 90">
              <a:extLst>
                <a:ext uri="{FF2B5EF4-FFF2-40B4-BE49-F238E27FC236}">
                  <a16:creationId xmlns:a16="http://schemas.microsoft.com/office/drawing/2014/main" id="{57D59E7A-FDEC-4AB3-AB07-138E460B9E35}"/>
                </a:ext>
              </a:extLst>
            </p:cNvPr>
            <p:cNvGrpSpPr/>
            <p:nvPr/>
          </p:nvGrpSpPr>
          <p:grpSpPr>
            <a:xfrm>
              <a:off x="162421" y="1030140"/>
              <a:ext cx="168947" cy="115491"/>
              <a:chOff x="8508546" y="1112530"/>
              <a:chExt cx="168947" cy="115491"/>
            </a:xfrm>
          </p:grpSpPr>
          <p:sp>
            <p:nvSpPr>
              <p:cNvPr id="92" name="正方形/長方形 91">
                <a:extLst>
                  <a:ext uri="{FF2B5EF4-FFF2-40B4-BE49-F238E27FC236}">
                    <a16:creationId xmlns:a16="http://schemas.microsoft.com/office/drawing/2014/main" id="{EBBFC663-B899-4247-9B56-B3C41C06E0A7}"/>
                  </a:ext>
                </a:extLst>
              </p:cNvPr>
              <p:cNvSpPr/>
              <p:nvPr/>
            </p:nvSpPr>
            <p:spPr>
              <a:xfrm>
                <a:off x="8508546" y="1162829"/>
                <a:ext cx="45719" cy="65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3" name="正方形/長方形 92">
                <a:extLst>
                  <a:ext uri="{FF2B5EF4-FFF2-40B4-BE49-F238E27FC236}">
                    <a16:creationId xmlns:a16="http://schemas.microsoft.com/office/drawing/2014/main" id="{BB58DCB2-DD58-408B-83E0-CF3977E27F00}"/>
                  </a:ext>
                </a:extLst>
              </p:cNvPr>
              <p:cNvSpPr/>
              <p:nvPr/>
            </p:nvSpPr>
            <p:spPr>
              <a:xfrm>
                <a:off x="8570160" y="1138622"/>
                <a:ext cx="45719" cy="893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4" name="正方形/長方形 93">
                <a:extLst>
                  <a:ext uri="{FF2B5EF4-FFF2-40B4-BE49-F238E27FC236}">
                    <a16:creationId xmlns:a16="http://schemas.microsoft.com/office/drawing/2014/main" id="{FDB3AB38-19FA-47C1-B449-B4287F8F48DA}"/>
                  </a:ext>
                </a:extLst>
              </p:cNvPr>
              <p:cNvSpPr/>
              <p:nvPr/>
            </p:nvSpPr>
            <p:spPr>
              <a:xfrm>
                <a:off x="8631774" y="1112530"/>
                <a:ext cx="45719" cy="1154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98" name="グループ化 97">
            <a:extLst>
              <a:ext uri="{FF2B5EF4-FFF2-40B4-BE49-F238E27FC236}">
                <a16:creationId xmlns:a16="http://schemas.microsoft.com/office/drawing/2014/main" id="{0317DF6F-A6F5-4C4F-B784-59173E97E05D}"/>
              </a:ext>
            </a:extLst>
          </p:cNvPr>
          <p:cNvGrpSpPr/>
          <p:nvPr/>
        </p:nvGrpSpPr>
        <p:grpSpPr>
          <a:xfrm>
            <a:off x="9437534" y="1443797"/>
            <a:ext cx="2592045" cy="115491"/>
            <a:chOff x="162421" y="1030140"/>
            <a:chExt cx="2592045" cy="115491"/>
          </a:xfrm>
        </p:grpSpPr>
        <p:grpSp>
          <p:nvGrpSpPr>
            <p:cNvPr id="99" name="グループ化 98">
              <a:extLst>
                <a:ext uri="{FF2B5EF4-FFF2-40B4-BE49-F238E27FC236}">
                  <a16:creationId xmlns:a16="http://schemas.microsoft.com/office/drawing/2014/main" id="{5B506CEA-9568-43F4-91D0-6E6F63224486}"/>
                </a:ext>
              </a:extLst>
            </p:cNvPr>
            <p:cNvGrpSpPr/>
            <p:nvPr/>
          </p:nvGrpSpPr>
          <p:grpSpPr>
            <a:xfrm>
              <a:off x="2582636" y="1056175"/>
              <a:ext cx="171830" cy="81504"/>
              <a:chOff x="2302329" y="1107881"/>
              <a:chExt cx="441251" cy="165747"/>
            </a:xfrm>
          </p:grpSpPr>
          <p:sp>
            <p:nvSpPr>
              <p:cNvPr id="104" name="正方形/長方形 103">
                <a:extLst>
                  <a:ext uri="{FF2B5EF4-FFF2-40B4-BE49-F238E27FC236}">
                    <a16:creationId xmlns:a16="http://schemas.microsoft.com/office/drawing/2014/main" id="{4C5FFCAA-A13E-4696-8B1F-BAD08283D06B}"/>
                  </a:ext>
                </a:extLst>
              </p:cNvPr>
              <p:cNvSpPr/>
              <p:nvPr/>
            </p:nvSpPr>
            <p:spPr>
              <a:xfrm>
                <a:off x="2302329" y="1107881"/>
                <a:ext cx="401274" cy="165747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5" name="正方形/長方形 104">
                <a:extLst>
                  <a:ext uri="{FF2B5EF4-FFF2-40B4-BE49-F238E27FC236}">
                    <a16:creationId xmlns:a16="http://schemas.microsoft.com/office/drawing/2014/main" id="{5694C739-AF6E-4CB0-9AFA-122A660EBD77}"/>
                  </a:ext>
                </a:extLst>
              </p:cNvPr>
              <p:cNvSpPr/>
              <p:nvPr/>
            </p:nvSpPr>
            <p:spPr>
              <a:xfrm>
                <a:off x="2302329" y="1107881"/>
                <a:ext cx="271937" cy="16574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6" name="正方形/長方形 105">
                <a:extLst>
                  <a:ext uri="{FF2B5EF4-FFF2-40B4-BE49-F238E27FC236}">
                    <a16:creationId xmlns:a16="http://schemas.microsoft.com/office/drawing/2014/main" id="{40644132-FE09-4D31-9F67-98F52C9AC18E}"/>
                  </a:ext>
                </a:extLst>
              </p:cNvPr>
              <p:cNvSpPr/>
              <p:nvPr/>
            </p:nvSpPr>
            <p:spPr>
              <a:xfrm>
                <a:off x="2703603" y="1154210"/>
                <a:ext cx="39977" cy="7308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00" name="グループ化 99">
              <a:extLst>
                <a:ext uri="{FF2B5EF4-FFF2-40B4-BE49-F238E27FC236}">
                  <a16:creationId xmlns:a16="http://schemas.microsoft.com/office/drawing/2014/main" id="{D5384B3D-9C84-4945-B610-D59614478375}"/>
                </a:ext>
              </a:extLst>
            </p:cNvPr>
            <p:cNvGrpSpPr/>
            <p:nvPr/>
          </p:nvGrpSpPr>
          <p:grpSpPr>
            <a:xfrm>
              <a:off x="162421" y="1030140"/>
              <a:ext cx="168947" cy="115491"/>
              <a:chOff x="8508546" y="1112530"/>
              <a:chExt cx="168947" cy="115491"/>
            </a:xfrm>
          </p:grpSpPr>
          <p:sp>
            <p:nvSpPr>
              <p:cNvPr id="101" name="正方形/長方形 100">
                <a:extLst>
                  <a:ext uri="{FF2B5EF4-FFF2-40B4-BE49-F238E27FC236}">
                    <a16:creationId xmlns:a16="http://schemas.microsoft.com/office/drawing/2014/main" id="{FA597A49-A30D-497C-9CE4-B211117BF43E}"/>
                  </a:ext>
                </a:extLst>
              </p:cNvPr>
              <p:cNvSpPr/>
              <p:nvPr/>
            </p:nvSpPr>
            <p:spPr>
              <a:xfrm>
                <a:off x="8508546" y="1162829"/>
                <a:ext cx="45719" cy="65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2" name="正方形/長方形 101">
                <a:extLst>
                  <a:ext uri="{FF2B5EF4-FFF2-40B4-BE49-F238E27FC236}">
                    <a16:creationId xmlns:a16="http://schemas.microsoft.com/office/drawing/2014/main" id="{BD6EC3AF-0BA8-4361-8AC2-6982B72BE932}"/>
                  </a:ext>
                </a:extLst>
              </p:cNvPr>
              <p:cNvSpPr/>
              <p:nvPr/>
            </p:nvSpPr>
            <p:spPr>
              <a:xfrm>
                <a:off x="8570160" y="1138622"/>
                <a:ext cx="45719" cy="893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3" name="正方形/長方形 102">
                <a:extLst>
                  <a:ext uri="{FF2B5EF4-FFF2-40B4-BE49-F238E27FC236}">
                    <a16:creationId xmlns:a16="http://schemas.microsoft.com/office/drawing/2014/main" id="{5BE81F25-3FBC-4FA5-A370-ACDEEA426B46}"/>
                  </a:ext>
                </a:extLst>
              </p:cNvPr>
              <p:cNvSpPr/>
              <p:nvPr/>
            </p:nvSpPr>
            <p:spPr>
              <a:xfrm>
                <a:off x="8631774" y="1112530"/>
                <a:ext cx="45719" cy="1154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4DA9C5EA-AC2A-4F91-B280-B573DCF58DD8}"/>
              </a:ext>
            </a:extLst>
          </p:cNvPr>
          <p:cNvSpPr/>
          <p:nvPr/>
        </p:nvSpPr>
        <p:spPr>
          <a:xfrm>
            <a:off x="1059605" y="6135235"/>
            <a:ext cx="805543" cy="5482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" name="四角形: 角を丸くする 106">
            <a:extLst>
              <a:ext uri="{FF2B5EF4-FFF2-40B4-BE49-F238E27FC236}">
                <a16:creationId xmlns:a16="http://schemas.microsoft.com/office/drawing/2014/main" id="{51D4405A-BC14-4C7D-B40F-EA84328DC260}"/>
              </a:ext>
            </a:extLst>
          </p:cNvPr>
          <p:cNvSpPr/>
          <p:nvPr/>
        </p:nvSpPr>
        <p:spPr>
          <a:xfrm>
            <a:off x="4129085" y="6135235"/>
            <a:ext cx="805543" cy="5482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" name="四角形: 角を丸くする 107">
            <a:extLst>
              <a:ext uri="{FF2B5EF4-FFF2-40B4-BE49-F238E27FC236}">
                <a16:creationId xmlns:a16="http://schemas.microsoft.com/office/drawing/2014/main" id="{0C1B0511-5DCE-481B-BCE1-2D038283F493}"/>
              </a:ext>
            </a:extLst>
          </p:cNvPr>
          <p:cNvSpPr/>
          <p:nvPr/>
        </p:nvSpPr>
        <p:spPr>
          <a:xfrm>
            <a:off x="7246708" y="6135235"/>
            <a:ext cx="805543" cy="5482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四角形: 角を丸くする 108">
            <a:extLst>
              <a:ext uri="{FF2B5EF4-FFF2-40B4-BE49-F238E27FC236}">
                <a16:creationId xmlns:a16="http://schemas.microsoft.com/office/drawing/2014/main" id="{8D06BAF8-74C7-4035-8F99-ED9A23BD4B10}"/>
              </a:ext>
            </a:extLst>
          </p:cNvPr>
          <p:cNvSpPr/>
          <p:nvPr/>
        </p:nvSpPr>
        <p:spPr>
          <a:xfrm>
            <a:off x="10338775" y="6135235"/>
            <a:ext cx="805543" cy="5482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" name="四角形: 角を丸くする 110">
            <a:extLst>
              <a:ext uri="{FF2B5EF4-FFF2-40B4-BE49-F238E27FC236}">
                <a16:creationId xmlns:a16="http://schemas.microsoft.com/office/drawing/2014/main" id="{D2DE67B9-E3CA-46D0-BBD5-A2403CC24469}"/>
              </a:ext>
            </a:extLst>
          </p:cNvPr>
          <p:cNvSpPr/>
          <p:nvPr/>
        </p:nvSpPr>
        <p:spPr>
          <a:xfrm>
            <a:off x="9979310" y="202291"/>
            <a:ext cx="2211221" cy="636799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荷下ろしが終わったら、</a:t>
            </a:r>
            <a:endParaRPr kumimoji="1" lang="en-US" altLang="ja-JP" sz="14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r>
              <a:rPr lang="ja-JP" altLang="en-US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次</a:t>
            </a:r>
            <a:r>
              <a:rPr kumimoji="1" lang="ja-JP" altLang="en-US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の配達先を選択して </a:t>
            </a:r>
            <a:endParaRPr kumimoji="1" lang="en-US" altLang="ja-JP" sz="14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r>
              <a:rPr kumimoji="1" lang="ja-JP" altLang="en-US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「出発」をタップ</a:t>
            </a:r>
          </a:p>
        </p:txBody>
      </p:sp>
      <p:sp>
        <p:nvSpPr>
          <p:cNvPr id="113" name="四角形: 角を丸くする 112">
            <a:extLst>
              <a:ext uri="{FF2B5EF4-FFF2-40B4-BE49-F238E27FC236}">
                <a16:creationId xmlns:a16="http://schemas.microsoft.com/office/drawing/2014/main" id="{57659C1C-541D-4D4F-B196-493394BD3C99}"/>
              </a:ext>
            </a:extLst>
          </p:cNvPr>
          <p:cNvSpPr/>
          <p:nvPr/>
        </p:nvSpPr>
        <p:spPr>
          <a:xfrm>
            <a:off x="3510504" y="3340406"/>
            <a:ext cx="2039510" cy="1188027"/>
          </a:xfrm>
          <a:prstGeom prst="roundRect">
            <a:avLst>
              <a:gd name="adj" fmla="val 164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フロムエー</a:t>
            </a:r>
            <a:endParaRPr kumimoji="1" lang="en-US" altLang="ja-JP" sz="12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三浦印刷</a:t>
            </a:r>
            <a:endParaRPr lang="en-US" altLang="ja-JP" sz="12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秋田情報プリント</a:t>
            </a:r>
            <a:endParaRPr kumimoji="1" lang="en-US" altLang="ja-JP" sz="12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三戸印刷所</a:t>
            </a:r>
            <a:endParaRPr kumimoji="1" lang="ja-JP" altLang="en-US" sz="12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F8D1A9A6-AEB0-4738-98F7-7E73D1CD367D}"/>
              </a:ext>
            </a:extLst>
          </p:cNvPr>
          <p:cNvGrpSpPr/>
          <p:nvPr/>
        </p:nvGrpSpPr>
        <p:grpSpPr>
          <a:xfrm>
            <a:off x="3510504" y="3083309"/>
            <a:ext cx="2039510" cy="296849"/>
            <a:chOff x="1550505" y="1930841"/>
            <a:chExt cx="2039510" cy="296849"/>
          </a:xfrm>
          <a:solidFill>
            <a:schemeClr val="bg1">
              <a:lumMod val="95000"/>
            </a:schemeClr>
          </a:solidFill>
        </p:grpSpPr>
        <p:sp>
          <p:nvSpPr>
            <p:cNvPr id="12" name="四角形: 角を丸くする 11">
              <a:extLst>
                <a:ext uri="{FF2B5EF4-FFF2-40B4-BE49-F238E27FC236}">
                  <a16:creationId xmlns:a16="http://schemas.microsoft.com/office/drawing/2014/main" id="{CC9CCD36-E89A-4608-B161-958E82BB4CCA}"/>
                </a:ext>
              </a:extLst>
            </p:cNvPr>
            <p:cNvSpPr/>
            <p:nvPr/>
          </p:nvSpPr>
          <p:spPr>
            <a:xfrm>
              <a:off x="1550505" y="1930841"/>
              <a:ext cx="2039510" cy="296849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200" dirty="0">
                  <a:solidFill>
                    <a:schemeClr val="tx1"/>
                  </a:solidFill>
                  <a:latin typeface="MS UI Gothic" panose="020B0600070205080204" pitchFamily="50" charset="-128"/>
                  <a:ea typeface="MS UI Gothic" panose="020B0600070205080204" pitchFamily="50" charset="-128"/>
                </a:rPr>
                <a:t>フロムエー</a:t>
              </a:r>
            </a:p>
          </p:txBody>
        </p:sp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93E9C2AF-FC5D-447F-B1B9-4983EBFF8EBC}"/>
                </a:ext>
              </a:extLst>
            </p:cNvPr>
            <p:cNvSpPr/>
            <p:nvPr/>
          </p:nvSpPr>
          <p:spPr>
            <a:xfrm>
              <a:off x="3317020" y="1965201"/>
              <a:ext cx="272995" cy="209479"/>
            </a:xfrm>
            <a:prstGeom prst="roundRect">
              <a:avLst/>
            </a:pr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sz="1200" dirty="0">
                  <a:solidFill>
                    <a:schemeClr val="tx1"/>
                  </a:solidFill>
                  <a:latin typeface="MS UI Gothic" panose="020B0600070205080204" pitchFamily="50" charset="-128"/>
                  <a:ea typeface="MS UI Gothic" panose="020B0600070205080204" pitchFamily="50" charset="-128"/>
                </a:rPr>
                <a:t>v</a:t>
              </a:r>
              <a:endPara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endParaRPr>
            </a:p>
          </p:txBody>
        </p:sp>
      </p:grpSp>
      <p:sp>
        <p:nvSpPr>
          <p:cNvPr id="115" name="四角形: 角を丸くする 114">
            <a:extLst>
              <a:ext uri="{FF2B5EF4-FFF2-40B4-BE49-F238E27FC236}">
                <a16:creationId xmlns:a16="http://schemas.microsoft.com/office/drawing/2014/main" id="{EE4FA09C-ABE1-487E-9867-306389FAF443}"/>
              </a:ext>
            </a:extLst>
          </p:cNvPr>
          <p:cNvSpPr/>
          <p:nvPr/>
        </p:nvSpPr>
        <p:spPr>
          <a:xfrm>
            <a:off x="9718201" y="4475278"/>
            <a:ext cx="2039510" cy="946424"/>
          </a:xfrm>
          <a:prstGeom prst="roundRect">
            <a:avLst>
              <a:gd name="adj" fmla="val 164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三浦印刷</a:t>
            </a:r>
            <a:endParaRPr lang="en-US" altLang="ja-JP" sz="12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秋田情報プリント</a:t>
            </a:r>
            <a:endParaRPr kumimoji="1" lang="en-US" altLang="ja-JP" sz="12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三戸印刷所</a:t>
            </a:r>
            <a:endParaRPr kumimoji="1" lang="ja-JP" altLang="en-US" sz="12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</p:txBody>
      </p: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A4E718F9-BDE8-4AA0-9BE8-6F6BC763E0E4}"/>
              </a:ext>
            </a:extLst>
          </p:cNvPr>
          <p:cNvGrpSpPr/>
          <p:nvPr/>
        </p:nvGrpSpPr>
        <p:grpSpPr>
          <a:xfrm>
            <a:off x="9721794" y="4231584"/>
            <a:ext cx="2039510" cy="296849"/>
            <a:chOff x="1550505" y="1930841"/>
            <a:chExt cx="2039510" cy="296849"/>
          </a:xfrm>
          <a:solidFill>
            <a:schemeClr val="bg1">
              <a:lumMod val="95000"/>
            </a:schemeClr>
          </a:solidFill>
        </p:grpSpPr>
        <p:sp>
          <p:nvSpPr>
            <p:cNvPr id="61" name="四角形: 角を丸くする 60">
              <a:extLst>
                <a:ext uri="{FF2B5EF4-FFF2-40B4-BE49-F238E27FC236}">
                  <a16:creationId xmlns:a16="http://schemas.microsoft.com/office/drawing/2014/main" id="{5179BE18-749B-41AD-8790-689863798DF4}"/>
                </a:ext>
              </a:extLst>
            </p:cNvPr>
            <p:cNvSpPr/>
            <p:nvPr/>
          </p:nvSpPr>
          <p:spPr>
            <a:xfrm>
              <a:off x="1550505" y="1930841"/>
              <a:ext cx="2039510" cy="296849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200" dirty="0">
                  <a:solidFill>
                    <a:schemeClr val="tx1"/>
                  </a:solidFill>
                  <a:latin typeface="MS UI Gothic" panose="020B0600070205080204" pitchFamily="50" charset="-128"/>
                  <a:ea typeface="MS UI Gothic" panose="020B0600070205080204" pitchFamily="50" charset="-128"/>
                </a:rPr>
                <a:t>三浦印刷</a:t>
              </a:r>
              <a:endPara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endParaRPr>
            </a:p>
          </p:txBody>
        </p:sp>
        <p:sp>
          <p:nvSpPr>
            <p:cNvPr id="62" name="四角形: 角を丸くする 61">
              <a:extLst>
                <a:ext uri="{FF2B5EF4-FFF2-40B4-BE49-F238E27FC236}">
                  <a16:creationId xmlns:a16="http://schemas.microsoft.com/office/drawing/2014/main" id="{2FE52A10-0455-4BCE-9B24-AC911FE73121}"/>
                </a:ext>
              </a:extLst>
            </p:cNvPr>
            <p:cNvSpPr/>
            <p:nvPr/>
          </p:nvSpPr>
          <p:spPr>
            <a:xfrm>
              <a:off x="3317020" y="1930841"/>
              <a:ext cx="272995" cy="243840"/>
            </a:xfrm>
            <a:prstGeom prst="roundRect">
              <a:avLst/>
            </a:pr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sz="1200" dirty="0">
                  <a:solidFill>
                    <a:schemeClr val="tx1"/>
                  </a:solidFill>
                  <a:latin typeface="MS UI Gothic" panose="020B0600070205080204" pitchFamily="50" charset="-128"/>
                  <a:ea typeface="MS UI Gothic" panose="020B0600070205080204" pitchFamily="50" charset="-128"/>
                </a:rPr>
                <a:t>v</a:t>
              </a:r>
              <a:endPara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endParaRPr>
            </a:p>
          </p:txBody>
        </p:sp>
      </p:grpSp>
      <p:sp>
        <p:nvSpPr>
          <p:cNvPr id="120" name="四角形: 角を丸くする 119">
            <a:extLst>
              <a:ext uri="{FF2B5EF4-FFF2-40B4-BE49-F238E27FC236}">
                <a16:creationId xmlns:a16="http://schemas.microsoft.com/office/drawing/2014/main" id="{37B3EB31-A857-4E12-A363-5BF56B09540B}"/>
              </a:ext>
            </a:extLst>
          </p:cNvPr>
          <p:cNvSpPr/>
          <p:nvPr/>
        </p:nvSpPr>
        <p:spPr>
          <a:xfrm>
            <a:off x="6809334" y="325220"/>
            <a:ext cx="2211221" cy="455877"/>
          </a:xfrm>
          <a:prstGeom prst="round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「到着」をタップして、</a:t>
            </a:r>
            <a:endParaRPr kumimoji="1" lang="en-US" altLang="ja-JP" sz="1400" dirty="0">
              <a:solidFill>
                <a:schemeClr val="tx1"/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r>
              <a:rPr kumimoji="1" lang="ja-JP" altLang="en-US" sz="14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荷下ろし開始</a:t>
            </a: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55869EC4-53A9-428F-B99F-E7EA34D1712B}"/>
              </a:ext>
            </a:extLst>
          </p:cNvPr>
          <p:cNvSpPr/>
          <p:nvPr/>
        </p:nvSpPr>
        <p:spPr>
          <a:xfrm>
            <a:off x="124571" y="329456"/>
            <a:ext cx="455878" cy="455878"/>
          </a:xfrm>
          <a:prstGeom prst="ellipse">
            <a:avLst/>
          </a:prstGeom>
          <a:noFill/>
          <a:ln w="28575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b="1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1</a:t>
            </a:r>
            <a:endParaRPr kumimoji="1" lang="ja-JP" altLang="en-US" sz="2800" b="1" dirty="0">
              <a:solidFill>
                <a:schemeClr val="accent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1" name="楕円 120">
            <a:extLst>
              <a:ext uri="{FF2B5EF4-FFF2-40B4-BE49-F238E27FC236}">
                <a16:creationId xmlns:a16="http://schemas.microsoft.com/office/drawing/2014/main" id="{A348316E-C8DE-4986-A14E-02E62BF80D96}"/>
              </a:ext>
            </a:extLst>
          </p:cNvPr>
          <p:cNvSpPr/>
          <p:nvPr/>
        </p:nvSpPr>
        <p:spPr>
          <a:xfrm>
            <a:off x="3165944" y="329456"/>
            <a:ext cx="455878" cy="455878"/>
          </a:xfrm>
          <a:prstGeom prst="ellipse">
            <a:avLst/>
          </a:prstGeom>
          <a:noFill/>
          <a:ln w="28575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b="1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2</a:t>
            </a:r>
            <a:endParaRPr kumimoji="1" lang="ja-JP" altLang="en-US" sz="2800" b="1" dirty="0">
              <a:solidFill>
                <a:schemeClr val="accent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2" name="楕円 121">
            <a:extLst>
              <a:ext uri="{FF2B5EF4-FFF2-40B4-BE49-F238E27FC236}">
                <a16:creationId xmlns:a16="http://schemas.microsoft.com/office/drawing/2014/main" id="{5AF99378-48F0-42B3-922F-F2FAC5AC57F7}"/>
              </a:ext>
            </a:extLst>
          </p:cNvPr>
          <p:cNvSpPr/>
          <p:nvPr/>
        </p:nvSpPr>
        <p:spPr>
          <a:xfrm>
            <a:off x="6353457" y="329456"/>
            <a:ext cx="455878" cy="455878"/>
          </a:xfrm>
          <a:prstGeom prst="ellipse">
            <a:avLst/>
          </a:prstGeom>
          <a:noFill/>
          <a:ln w="28575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b="1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3</a:t>
            </a:r>
            <a:endParaRPr kumimoji="1" lang="ja-JP" altLang="en-US" sz="2800" b="1" dirty="0">
              <a:solidFill>
                <a:schemeClr val="accent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3" name="楕円 122">
            <a:extLst>
              <a:ext uri="{FF2B5EF4-FFF2-40B4-BE49-F238E27FC236}">
                <a16:creationId xmlns:a16="http://schemas.microsoft.com/office/drawing/2014/main" id="{0396D909-D13E-4336-AC22-C9D6258244FD}"/>
              </a:ext>
            </a:extLst>
          </p:cNvPr>
          <p:cNvSpPr/>
          <p:nvPr/>
        </p:nvSpPr>
        <p:spPr>
          <a:xfrm>
            <a:off x="9437534" y="329456"/>
            <a:ext cx="455878" cy="455878"/>
          </a:xfrm>
          <a:prstGeom prst="ellipse">
            <a:avLst/>
          </a:prstGeom>
          <a:noFill/>
          <a:ln w="28575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b="1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4</a:t>
            </a:r>
            <a:endParaRPr kumimoji="1" lang="ja-JP" altLang="en-US" sz="2800" b="1" dirty="0">
              <a:solidFill>
                <a:schemeClr val="accent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110" name="グループ化 109">
            <a:extLst>
              <a:ext uri="{FF2B5EF4-FFF2-40B4-BE49-F238E27FC236}">
                <a16:creationId xmlns:a16="http://schemas.microsoft.com/office/drawing/2014/main" id="{7129C240-9393-4C46-AB78-5C40274E8DF4}"/>
              </a:ext>
            </a:extLst>
          </p:cNvPr>
          <p:cNvGrpSpPr/>
          <p:nvPr/>
        </p:nvGrpSpPr>
        <p:grpSpPr>
          <a:xfrm>
            <a:off x="442625" y="2076140"/>
            <a:ext cx="2039510" cy="296849"/>
            <a:chOff x="1550505" y="1930841"/>
            <a:chExt cx="2039510" cy="296849"/>
          </a:xfrm>
          <a:solidFill>
            <a:schemeClr val="bg1">
              <a:lumMod val="95000"/>
            </a:schemeClr>
          </a:solidFill>
        </p:grpSpPr>
        <p:sp>
          <p:nvSpPr>
            <p:cNvPr id="112" name="四角形: 角を丸くする 111">
              <a:extLst>
                <a:ext uri="{FF2B5EF4-FFF2-40B4-BE49-F238E27FC236}">
                  <a16:creationId xmlns:a16="http://schemas.microsoft.com/office/drawing/2014/main" id="{91C36F9D-8D50-4917-8CD6-264F0EF58663}"/>
                </a:ext>
              </a:extLst>
            </p:cNvPr>
            <p:cNvSpPr/>
            <p:nvPr/>
          </p:nvSpPr>
          <p:spPr>
            <a:xfrm>
              <a:off x="1550505" y="1930841"/>
              <a:ext cx="2039510" cy="296849"/>
            </a:xfrm>
            <a:prstGeom prst="round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200" dirty="0">
                  <a:solidFill>
                    <a:schemeClr val="tx1"/>
                  </a:solidFill>
                  <a:latin typeface="MS UI Gothic" panose="020B0600070205080204" pitchFamily="50" charset="-128"/>
                  <a:ea typeface="MS UI Gothic" panose="020B0600070205080204" pitchFamily="50" charset="-128"/>
                </a:rPr>
                <a:t>秋田支店</a:t>
              </a:r>
            </a:p>
          </p:txBody>
        </p:sp>
        <p:sp>
          <p:nvSpPr>
            <p:cNvPr id="114" name="四角形: 角を丸くする 113">
              <a:extLst>
                <a:ext uri="{FF2B5EF4-FFF2-40B4-BE49-F238E27FC236}">
                  <a16:creationId xmlns:a16="http://schemas.microsoft.com/office/drawing/2014/main" id="{35A13E4A-0044-400B-8066-17D5A98FBDB5}"/>
                </a:ext>
              </a:extLst>
            </p:cNvPr>
            <p:cNvSpPr/>
            <p:nvPr/>
          </p:nvSpPr>
          <p:spPr>
            <a:xfrm>
              <a:off x="3317020" y="1940117"/>
              <a:ext cx="272995" cy="243840"/>
            </a:xfrm>
            <a:prstGeom prst="roundRect">
              <a:avLst/>
            </a:pr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sz="1200" dirty="0">
                  <a:solidFill>
                    <a:schemeClr val="tx1"/>
                  </a:solidFill>
                  <a:latin typeface="MS UI Gothic" panose="020B0600070205080204" pitchFamily="50" charset="-128"/>
                  <a:ea typeface="MS UI Gothic" panose="020B0600070205080204" pitchFamily="50" charset="-128"/>
                </a:rPr>
                <a:t>v</a:t>
              </a:r>
              <a:endParaRPr kumimoji="1" lang="ja-JP" altLang="en-US" sz="1200" dirty="0">
                <a:solidFill>
                  <a:schemeClr val="tx1"/>
                </a:solidFill>
                <a:latin typeface="MS UI Gothic" panose="020B0600070205080204" pitchFamily="50" charset="-128"/>
                <a:ea typeface="MS UI Gothic" panose="020B060007020508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1001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90D8649-5C16-4DCF-8463-DC69FEDA245E}"/>
              </a:ext>
            </a:extLst>
          </p:cNvPr>
          <p:cNvSpPr/>
          <p:nvPr/>
        </p:nvSpPr>
        <p:spPr>
          <a:xfrm>
            <a:off x="1454935" y="420821"/>
            <a:ext cx="9405807" cy="58090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200000"/>
              </a:lnSpc>
            </a:pP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15679AD-0773-4555-9EDC-CD9324FC41B6}"/>
              </a:ext>
            </a:extLst>
          </p:cNvPr>
          <p:cNvSpPr/>
          <p:nvPr/>
        </p:nvSpPr>
        <p:spPr>
          <a:xfrm>
            <a:off x="4912659" y="160141"/>
            <a:ext cx="5948082" cy="26873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ja-JP" altLang="en-US" sz="1100" b="1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＿    □    </a:t>
            </a:r>
            <a:r>
              <a:rPr kumimoji="1" lang="en-US" altLang="ja-JP" sz="1100" b="1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×</a:t>
            </a:r>
            <a:endParaRPr kumimoji="1" lang="ja-JP" altLang="en-US" sz="1100" b="1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803C97E-9D72-44CD-9BD9-FE8E5BC65BE9}"/>
              </a:ext>
            </a:extLst>
          </p:cNvPr>
          <p:cNvSpPr/>
          <p:nvPr/>
        </p:nvSpPr>
        <p:spPr>
          <a:xfrm>
            <a:off x="1466315" y="628153"/>
            <a:ext cx="2270098" cy="56016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US" altLang="ja-JP" sz="1600" b="1" dirty="0">
              <a:solidFill>
                <a:schemeClr val="tx1"/>
              </a:solidFill>
              <a:latin typeface="Ubuntu Mono Medium" panose="020B0309030602030204" pitchFamily="49" charset="0"/>
              <a:ea typeface="851ゴチカクット" panose="02000600000000000000" pitchFamily="2" charset="-128"/>
            </a:endParaRPr>
          </a:p>
          <a:p>
            <a:pPr algn="ctr"/>
            <a:r>
              <a:rPr lang="en-US" altLang="ja-JP" sz="2000" b="1" dirty="0">
                <a:solidFill>
                  <a:schemeClr val="tx1"/>
                </a:solidFill>
                <a:latin typeface="Ubuntu Mono Medium" panose="020B0309030602030204" pitchFamily="49" charset="0"/>
                <a:ea typeface="851ゴチカクット" panose="02000600000000000000" pitchFamily="2" charset="-128"/>
              </a:rPr>
              <a:t>Truck</a:t>
            </a:r>
            <a:r>
              <a:rPr lang="ja-JP" altLang="en-US" sz="2000" b="1" dirty="0">
                <a:solidFill>
                  <a:schemeClr val="tx1"/>
                </a:solidFill>
                <a:latin typeface="Ubuntu Mono Medium" panose="020B0309030602030204" pitchFamily="49" charset="0"/>
                <a:ea typeface="851ゴチカクット" panose="02000600000000000000" pitchFamily="2" charset="-128"/>
              </a:rPr>
              <a:t> </a:t>
            </a:r>
            <a:r>
              <a:rPr lang="en-US" altLang="ja-JP" sz="2000" b="1" dirty="0">
                <a:solidFill>
                  <a:schemeClr val="tx1"/>
                </a:solidFill>
                <a:latin typeface="Ubuntu Mono Medium" panose="020B0309030602030204" pitchFamily="49" charset="0"/>
                <a:ea typeface="851ゴチカクット" panose="02000600000000000000" pitchFamily="2" charset="-128"/>
              </a:rPr>
              <a:t>Tracker</a:t>
            </a:r>
            <a:endParaRPr lang="ja-JP" altLang="en-US" sz="2000" b="1" dirty="0">
              <a:solidFill>
                <a:schemeClr val="tx1"/>
              </a:solidFill>
              <a:latin typeface="Ubuntu Mono Medium" panose="020B0309030602030204" pitchFamily="49" charset="0"/>
              <a:ea typeface="851ゴチカクット" panose="02000600000000000000" pitchFamily="2" charset="-128"/>
            </a:endParaRPr>
          </a:p>
          <a:p>
            <a:pPr algn="ctr">
              <a:lnSpc>
                <a:spcPct val="200000"/>
              </a:lnSpc>
            </a:pP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>
              <a:lnSpc>
                <a:spcPct val="200000"/>
              </a:lnSpc>
            </a:pPr>
            <a:endParaRPr lang="en-US" altLang="ja-JP" sz="1200" dirty="0">
              <a:solidFill>
                <a:schemeClr val="tx1"/>
              </a:solidFill>
            </a:endParaRPr>
          </a:p>
          <a:p>
            <a:pPr algn="ctr">
              <a:lnSpc>
                <a:spcPct val="200000"/>
              </a:lnSpc>
            </a:pPr>
            <a:r>
              <a:rPr kumimoji="1" lang="ja-JP" altLang="en-US" sz="1200" dirty="0">
                <a:solidFill>
                  <a:schemeClr val="tx1"/>
                </a:solidFill>
              </a:rPr>
              <a:t>日報管理</a:t>
            </a:r>
            <a:endParaRPr lang="en-US" altLang="ja-JP" sz="1200" dirty="0">
              <a:solidFill>
                <a:schemeClr val="tx1"/>
              </a:solidFill>
            </a:endParaRPr>
          </a:p>
          <a:p>
            <a:pPr algn="ctr">
              <a:lnSpc>
                <a:spcPct val="200000"/>
              </a:lnSpc>
            </a:pPr>
            <a:r>
              <a:rPr kumimoji="1" lang="en-US" altLang="ja-JP" sz="1200" dirty="0">
                <a:solidFill>
                  <a:schemeClr val="tx1"/>
                </a:solidFill>
              </a:rPr>
              <a:t>CSV</a:t>
            </a:r>
            <a:r>
              <a:rPr kumimoji="1" lang="ja-JP" altLang="en-US" sz="1200" dirty="0">
                <a:solidFill>
                  <a:schemeClr val="tx1"/>
                </a:solidFill>
              </a:rPr>
              <a:t>ダウンロード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>
              <a:lnSpc>
                <a:spcPct val="200000"/>
              </a:lnSpc>
            </a:pPr>
            <a:r>
              <a:rPr lang="ja-JP" altLang="en-US" sz="1200" dirty="0">
                <a:solidFill>
                  <a:schemeClr val="tx1"/>
                </a:solidFill>
              </a:rPr>
              <a:t>マスタ管理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9B2541C-A3A0-4760-9967-32E6553D3DC0}"/>
              </a:ext>
            </a:extLst>
          </p:cNvPr>
          <p:cNvSpPr/>
          <p:nvPr/>
        </p:nvSpPr>
        <p:spPr>
          <a:xfrm>
            <a:off x="1700879" y="1514532"/>
            <a:ext cx="1790874" cy="394950"/>
          </a:xfrm>
          <a:prstGeom prst="roundRect">
            <a:avLst>
              <a:gd name="adj" fmla="val 12317"/>
            </a:avLst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</a:rPr>
              <a:t>ダッシュボード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E46D04D2-6B4E-46D7-A56F-AB21FE665AA3}"/>
              </a:ext>
            </a:extLst>
          </p:cNvPr>
          <p:cNvSpPr/>
          <p:nvPr/>
        </p:nvSpPr>
        <p:spPr>
          <a:xfrm>
            <a:off x="6113390" y="1514533"/>
            <a:ext cx="1885002" cy="1324954"/>
          </a:xfrm>
          <a:prstGeom prst="roundRect">
            <a:avLst>
              <a:gd name="adj" fmla="val 379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</a:rPr>
              <a:t>配達</a:t>
            </a:r>
            <a:r>
              <a:rPr kumimoji="1" lang="ja-JP" altLang="en-US" sz="1600" dirty="0">
                <a:solidFill>
                  <a:schemeClr val="tx1"/>
                </a:solidFill>
              </a:rPr>
              <a:t>中</a:t>
            </a:r>
            <a:endParaRPr lang="en-US" altLang="ja-JP" sz="1600" dirty="0">
              <a:solidFill>
                <a:schemeClr val="tx1"/>
              </a:solidFill>
            </a:endParaRPr>
          </a:p>
          <a:p>
            <a:pPr algn="ctr"/>
            <a:r>
              <a:rPr lang="en-US" altLang="ja-JP" sz="4000" b="1" dirty="0">
                <a:solidFill>
                  <a:schemeClr val="tx1"/>
                </a:solidFill>
              </a:rPr>
              <a:t>3</a:t>
            </a:r>
            <a:r>
              <a:rPr kumimoji="1" lang="ja-JP" altLang="en-US" sz="4000" b="1" dirty="0">
                <a:solidFill>
                  <a:schemeClr val="tx1"/>
                </a:solidFill>
              </a:rPr>
              <a:t> </a:t>
            </a:r>
            <a:r>
              <a:rPr kumimoji="1" lang="ja-JP" altLang="en-US" dirty="0">
                <a:solidFill>
                  <a:schemeClr val="tx1"/>
                </a:solidFill>
              </a:rPr>
              <a:t>台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A1F9920-11FF-4480-83B7-A7E4F3F05C83}"/>
              </a:ext>
            </a:extLst>
          </p:cNvPr>
          <p:cNvSpPr/>
          <p:nvPr/>
        </p:nvSpPr>
        <p:spPr>
          <a:xfrm>
            <a:off x="3982401" y="1514532"/>
            <a:ext cx="1885002" cy="1324954"/>
          </a:xfrm>
          <a:prstGeom prst="roundRect">
            <a:avLst>
              <a:gd name="adj" fmla="val 379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</a:rPr>
              <a:t>出庫前</a:t>
            </a:r>
            <a:endParaRPr lang="en-US" altLang="ja-JP" sz="16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4000" b="1" dirty="0">
                <a:solidFill>
                  <a:schemeClr val="tx1"/>
                </a:solidFill>
              </a:rPr>
              <a:t>1</a:t>
            </a:r>
            <a:r>
              <a:rPr kumimoji="1" lang="ja-JP" altLang="en-US" sz="4000" dirty="0">
                <a:solidFill>
                  <a:schemeClr val="tx1"/>
                </a:solidFill>
              </a:rPr>
              <a:t> </a:t>
            </a:r>
            <a:r>
              <a:rPr kumimoji="1" lang="ja-JP" altLang="en-US" dirty="0">
                <a:solidFill>
                  <a:schemeClr val="tx1"/>
                </a:solidFill>
              </a:rPr>
              <a:t>台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0DC7960A-A8FB-4B32-AC47-0BE36825037B}"/>
              </a:ext>
            </a:extLst>
          </p:cNvPr>
          <p:cNvSpPr/>
          <p:nvPr/>
        </p:nvSpPr>
        <p:spPr>
          <a:xfrm>
            <a:off x="8244379" y="1514532"/>
            <a:ext cx="1885002" cy="1324954"/>
          </a:xfrm>
          <a:prstGeom prst="roundRect">
            <a:avLst>
              <a:gd name="adj" fmla="val 379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</a:rPr>
              <a:t>帰社済</a:t>
            </a:r>
            <a:endParaRPr lang="en-US" altLang="ja-JP" sz="1600" dirty="0">
              <a:solidFill>
                <a:schemeClr val="tx1"/>
              </a:solidFill>
            </a:endParaRPr>
          </a:p>
          <a:p>
            <a:pPr algn="ctr"/>
            <a:r>
              <a:rPr lang="en-US" altLang="ja-JP" sz="4000" b="1" dirty="0">
                <a:solidFill>
                  <a:schemeClr val="tx1"/>
                </a:solidFill>
              </a:rPr>
              <a:t>1</a:t>
            </a:r>
            <a:r>
              <a:rPr kumimoji="1" lang="ja-JP" altLang="en-US" sz="4000" dirty="0">
                <a:solidFill>
                  <a:schemeClr val="tx1"/>
                </a:solidFill>
              </a:rPr>
              <a:t> </a:t>
            </a:r>
            <a:r>
              <a:rPr kumimoji="1" lang="ja-JP" altLang="en-US" dirty="0">
                <a:solidFill>
                  <a:schemeClr val="tx1"/>
                </a:solidFill>
              </a:rPr>
              <a:t>台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1CDD337B-1154-472A-9769-2C740F4C93C4}"/>
              </a:ext>
            </a:extLst>
          </p:cNvPr>
          <p:cNvSpPr/>
          <p:nvPr/>
        </p:nvSpPr>
        <p:spPr>
          <a:xfrm>
            <a:off x="3982401" y="739467"/>
            <a:ext cx="5632468" cy="571249"/>
          </a:xfrm>
          <a:prstGeom prst="roundRect">
            <a:avLst>
              <a:gd name="adj" fmla="val 379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本日配達状況  </a:t>
            </a:r>
            <a:r>
              <a:rPr kumimoji="1" lang="en-US" altLang="ja-JP" sz="2800" b="1" dirty="0">
                <a:solidFill>
                  <a:schemeClr val="tx1"/>
                </a:solidFill>
              </a:rPr>
              <a:t>1</a:t>
            </a:r>
            <a:r>
              <a:rPr lang="en-US" altLang="ja-JP" sz="2800" b="1" dirty="0">
                <a:solidFill>
                  <a:schemeClr val="tx1"/>
                </a:solidFill>
              </a:rPr>
              <a:t>6</a:t>
            </a:r>
            <a:r>
              <a:rPr kumimoji="1" lang="ja-JP" altLang="en-US" sz="4000" dirty="0">
                <a:solidFill>
                  <a:schemeClr val="tx1"/>
                </a:solidFill>
              </a:rPr>
              <a:t> </a:t>
            </a:r>
            <a:r>
              <a:rPr kumimoji="1" lang="ja-JP" altLang="en-US" dirty="0">
                <a:solidFill>
                  <a:schemeClr val="tx1"/>
                </a:solidFill>
              </a:rPr>
              <a:t>件 </a:t>
            </a:r>
            <a:r>
              <a:rPr kumimoji="1" lang="en-US" altLang="ja-JP" dirty="0">
                <a:solidFill>
                  <a:schemeClr val="tx1"/>
                </a:solidFill>
              </a:rPr>
              <a:t>/</a:t>
            </a:r>
            <a:r>
              <a:rPr kumimoji="1" lang="ja-JP" altLang="en-US" dirty="0">
                <a:solidFill>
                  <a:schemeClr val="tx1"/>
                </a:solidFill>
              </a:rPr>
              <a:t> </a:t>
            </a:r>
            <a:r>
              <a:rPr kumimoji="1" lang="en-US" altLang="ja-JP" sz="2800" b="1" dirty="0">
                <a:solidFill>
                  <a:schemeClr val="tx1"/>
                </a:solidFill>
              </a:rPr>
              <a:t>321</a:t>
            </a:r>
            <a:r>
              <a:rPr kumimoji="1" lang="ja-JP" altLang="en-US" dirty="0">
                <a:solidFill>
                  <a:schemeClr val="tx1"/>
                </a:solidFill>
              </a:rPr>
              <a:t> </a:t>
            </a:r>
            <a:r>
              <a:rPr kumimoji="1" lang="en-US" altLang="ja-JP" dirty="0">
                <a:solidFill>
                  <a:schemeClr val="tx1"/>
                </a:solidFill>
              </a:rPr>
              <a:t>kg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C6A74979-0E94-4364-A7CD-F0205B871F76}"/>
              </a:ext>
            </a:extLst>
          </p:cNvPr>
          <p:cNvSpPr/>
          <p:nvPr/>
        </p:nvSpPr>
        <p:spPr>
          <a:xfrm>
            <a:off x="3982401" y="3043302"/>
            <a:ext cx="6146980" cy="3099390"/>
          </a:xfrm>
          <a:prstGeom prst="roundRect">
            <a:avLst>
              <a:gd name="adj" fmla="val 2206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t" anchorCtr="0"/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</a:rPr>
              <a:t>車輌別ステータス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4C5ACDAC-3112-4012-B8C8-5C38BB728142}"/>
              </a:ext>
            </a:extLst>
          </p:cNvPr>
          <p:cNvSpPr/>
          <p:nvPr/>
        </p:nvSpPr>
        <p:spPr>
          <a:xfrm>
            <a:off x="4486616" y="3730666"/>
            <a:ext cx="5128253" cy="386003"/>
          </a:xfrm>
          <a:prstGeom prst="roundRect">
            <a:avLst>
              <a:gd name="adj" fmla="val 379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bIns="0" rtlCol="0" anchor="ctr" anchorCtr="0"/>
          <a:lstStyle/>
          <a:p>
            <a:r>
              <a:rPr kumimoji="1" lang="en-US" altLang="ja-JP" sz="1600" dirty="0">
                <a:solidFill>
                  <a:schemeClr val="tx1"/>
                </a:solidFill>
              </a:rPr>
              <a:t>003</a:t>
            </a:r>
            <a:r>
              <a:rPr kumimoji="1" lang="ja-JP" altLang="en-US" sz="1600" dirty="0">
                <a:solidFill>
                  <a:schemeClr val="tx1"/>
                </a:solidFill>
              </a:rPr>
              <a:t>号車             出庫前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9297FA8E-C81A-4368-9576-F35A03A36A07}"/>
              </a:ext>
            </a:extLst>
          </p:cNvPr>
          <p:cNvSpPr/>
          <p:nvPr/>
        </p:nvSpPr>
        <p:spPr>
          <a:xfrm>
            <a:off x="4486616" y="4229510"/>
            <a:ext cx="5128253" cy="386003"/>
          </a:xfrm>
          <a:prstGeom prst="roundRect">
            <a:avLst>
              <a:gd name="adj" fmla="val 379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bIns="0" rtlCol="0" anchor="ctr" anchorCtr="0"/>
          <a:lstStyle/>
          <a:p>
            <a:r>
              <a:rPr kumimoji="1" lang="en-US" altLang="ja-JP" sz="1600" dirty="0">
                <a:solidFill>
                  <a:schemeClr val="tx1"/>
                </a:solidFill>
              </a:rPr>
              <a:t>005</a:t>
            </a:r>
            <a:r>
              <a:rPr kumimoji="1" lang="ja-JP" altLang="en-US" sz="1600" dirty="0">
                <a:solidFill>
                  <a:schemeClr val="tx1"/>
                </a:solidFill>
              </a:rPr>
              <a:t>号車   </a:t>
            </a:r>
            <a:r>
              <a:rPr kumimoji="1" lang="ja-JP" altLang="en-US" sz="1200" b="1" dirty="0">
                <a:solidFill>
                  <a:schemeClr val="tx1"/>
                </a:solidFill>
              </a:rPr>
              <a:t>市内便</a:t>
            </a:r>
            <a:r>
              <a:rPr kumimoji="1" lang="ja-JP" altLang="en-US" sz="1600" dirty="0">
                <a:solidFill>
                  <a:schemeClr val="tx1"/>
                </a:solidFill>
              </a:rPr>
              <a:t>   移動中  フロムエー ＞ 三浦印刷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31F96229-F41C-4009-BDB6-5CE214787767}"/>
              </a:ext>
            </a:extLst>
          </p:cNvPr>
          <p:cNvSpPr/>
          <p:nvPr/>
        </p:nvSpPr>
        <p:spPr>
          <a:xfrm>
            <a:off x="4486616" y="4728354"/>
            <a:ext cx="5128253" cy="386003"/>
          </a:xfrm>
          <a:prstGeom prst="roundRect">
            <a:avLst>
              <a:gd name="adj" fmla="val 379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bIns="0" rtlCol="0" anchor="ctr" anchorCtr="0"/>
          <a:lstStyle/>
          <a:p>
            <a:r>
              <a:rPr kumimoji="1" lang="en-US" altLang="ja-JP" sz="1600" dirty="0">
                <a:solidFill>
                  <a:schemeClr val="tx1"/>
                </a:solidFill>
              </a:rPr>
              <a:t>010</a:t>
            </a:r>
            <a:r>
              <a:rPr kumimoji="1" lang="ja-JP" altLang="en-US" sz="1600" dirty="0">
                <a:solidFill>
                  <a:schemeClr val="tx1"/>
                </a:solidFill>
              </a:rPr>
              <a:t>号車   </a:t>
            </a:r>
            <a:r>
              <a:rPr kumimoji="1" lang="ja-JP" altLang="en-US" sz="1200" b="1" dirty="0">
                <a:solidFill>
                  <a:schemeClr val="tx1"/>
                </a:solidFill>
              </a:rPr>
              <a:t>県北</a:t>
            </a:r>
            <a:r>
              <a:rPr lang="ja-JP" altLang="en-US" sz="1200" b="1" dirty="0">
                <a:solidFill>
                  <a:schemeClr val="tx1"/>
                </a:solidFill>
              </a:rPr>
              <a:t>便</a:t>
            </a:r>
            <a:r>
              <a:rPr lang="ja-JP" altLang="en-US" sz="1600" dirty="0">
                <a:solidFill>
                  <a:schemeClr val="tx1"/>
                </a:solidFill>
              </a:rPr>
              <a:t>   </a:t>
            </a:r>
            <a:r>
              <a:rPr kumimoji="1" lang="ja-JP" altLang="en-US" sz="1600" dirty="0">
                <a:solidFill>
                  <a:schemeClr val="tx1"/>
                </a:solidFill>
              </a:rPr>
              <a:t>移動中  八郎潟印刷 ＞ 帰社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0E35C085-CB24-4AA0-A3AD-2ED0725C90B6}"/>
              </a:ext>
            </a:extLst>
          </p:cNvPr>
          <p:cNvSpPr/>
          <p:nvPr/>
        </p:nvSpPr>
        <p:spPr>
          <a:xfrm>
            <a:off x="4486616" y="5230143"/>
            <a:ext cx="5128253" cy="386003"/>
          </a:xfrm>
          <a:prstGeom prst="roundRect">
            <a:avLst>
              <a:gd name="adj" fmla="val 379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bIns="0" rtlCol="0" anchor="ctr" anchorCtr="0"/>
          <a:lstStyle/>
          <a:p>
            <a:r>
              <a:rPr kumimoji="1" lang="en-US" altLang="ja-JP" sz="1600" dirty="0">
                <a:solidFill>
                  <a:schemeClr val="tx1"/>
                </a:solidFill>
              </a:rPr>
              <a:t>040</a:t>
            </a:r>
            <a:r>
              <a:rPr kumimoji="1" lang="ja-JP" altLang="en-US" sz="1600" dirty="0">
                <a:solidFill>
                  <a:schemeClr val="tx1"/>
                </a:solidFill>
              </a:rPr>
              <a:t>号車   </a:t>
            </a:r>
            <a:r>
              <a:rPr kumimoji="1" lang="ja-JP" altLang="en-US" sz="1200" b="1" dirty="0">
                <a:solidFill>
                  <a:schemeClr val="tx1"/>
                </a:solidFill>
              </a:rPr>
              <a:t>本庄</a:t>
            </a:r>
            <a:r>
              <a:rPr lang="ja-JP" altLang="en-US" sz="1200" b="1" dirty="0">
                <a:solidFill>
                  <a:schemeClr val="tx1"/>
                </a:solidFill>
              </a:rPr>
              <a:t>便</a:t>
            </a:r>
            <a:r>
              <a:rPr lang="ja-JP" altLang="en-US" sz="1600" dirty="0">
                <a:solidFill>
                  <a:schemeClr val="tx1"/>
                </a:solidFill>
              </a:rPr>
              <a:t> </a:t>
            </a:r>
            <a:r>
              <a:rPr kumimoji="1" lang="ja-JP" altLang="en-US" sz="1600" dirty="0">
                <a:solidFill>
                  <a:schemeClr val="tx1"/>
                </a:solidFill>
              </a:rPr>
              <a:t>   配達中  東北印刷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CE644DD1-BA6C-41F0-B0B8-830391B27684}"/>
              </a:ext>
            </a:extLst>
          </p:cNvPr>
          <p:cNvSpPr/>
          <p:nvPr/>
        </p:nvSpPr>
        <p:spPr>
          <a:xfrm>
            <a:off x="4486616" y="5731932"/>
            <a:ext cx="5128253" cy="386003"/>
          </a:xfrm>
          <a:prstGeom prst="roundRect">
            <a:avLst>
              <a:gd name="adj" fmla="val 379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0" bIns="0" rtlCol="0" anchor="ctr" anchorCtr="0"/>
          <a:lstStyle/>
          <a:p>
            <a:r>
              <a:rPr kumimoji="1" lang="en-US" altLang="ja-JP" sz="1600" dirty="0">
                <a:solidFill>
                  <a:schemeClr val="tx1"/>
                </a:solidFill>
              </a:rPr>
              <a:t>060</a:t>
            </a:r>
            <a:r>
              <a:rPr kumimoji="1" lang="ja-JP" altLang="en-US" sz="1600" dirty="0">
                <a:solidFill>
                  <a:schemeClr val="tx1"/>
                </a:solidFill>
              </a:rPr>
              <a:t>号車               帰社済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2988057-81EC-4213-B19D-6D6D419342A7}"/>
              </a:ext>
            </a:extLst>
          </p:cNvPr>
          <p:cNvSpPr/>
          <p:nvPr/>
        </p:nvSpPr>
        <p:spPr>
          <a:xfrm>
            <a:off x="1454934" y="6229847"/>
            <a:ext cx="9405807" cy="34834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200000"/>
              </a:lnSpc>
            </a:pP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1148F777-5633-43FB-96DE-109D9502BC97}"/>
              </a:ext>
            </a:extLst>
          </p:cNvPr>
          <p:cNvSpPr/>
          <p:nvPr/>
        </p:nvSpPr>
        <p:spPr>
          <a:xfrm>
            <a:off x="5239127" y="6277581"/>
            <a:ext cx="249088" cy="249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1F143438-70A8-450E-9BBE-C82F2D2767DD}"/>
              </a:ext>
            </a:extLst>
          </p:cNvPr>
          <p:cNvSpPr/>
          <p:nvPr/>
        </p:nvSpPr>
        <p:spPr>
          <a:xfrm>
            <a:off x="5605613" y="6277581"/>
            <a:ext cx="249088" cy="249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130B1AD-4FF1-4FE9-970F-B5D43581C480}"/>
              </a:ext>
            </a:extLst>
          </p:cNvPr>
          <p:cNvSpPr/>
          <p:nvPr/>
        </p:nvSpPr>
        <p:spPr>
          <a:xfrm>
            <a:off x="5971456" y="6277581"/>
            <a:ext cx="249088" cy="249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C375841-467E-4131-972B-3F953B426939}"/>
              </a:ext>
            </a:extLst>
          </p:cNvPr>
          <p:cNvSpPr/>
          <p:nvPr/>
        </p:nvSpPr>
        <p:spPr>
          <a:xfrm>
            <a:off x="6337299" y="6277581"/>
            <a:ext cx="249088" cy="249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438EB8BC-820D-4E7D-8BAC-156D88BC8EF4}"/>
              </a:ext>
            </a:extLst>
          </p:cNvPr>
          <p:cNvSpPr/>
          <p:nvPr/>
        </p:nvSpPr>
        <p:spPr>
          <a:xfrm>
            <a:off x="6703142" y="6277581"/>
            <a:ext cx="249088" cy="249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8B9E8507-B143-40D5-8D0D-2121A9F4B862}"/>
              </a:ext>
            </a:extLst>
          </p:cNvPr>
          <p:cNvSpPr/>
          <p:nvPr/>
        </p:nvSpPr>
        <p:spPr>
          <a:xfrm>
            <a:off x="9614869" y="6253967"/>
            <a:ext cx="1222929" cy="27270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en-US" altLang="ja-JP" sz="900" b="1" dirty="0"/>
              <a:t>12:34</a:t>
            </a:r>
          </a:p>
          <a:p>
            <a:pPr algn="r"/>
            <a:r>
              <a:rPr lang="en-US" altLang="ja-JP" sz="900" b="1" dirty="0"/>
              <a:t>2026/12/31</a:t>
            </a:r>
            <a:endParaRPr kumimoji="1" lang="ja-JP" altLang="en-US" sz="900" b="1" dirty="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098B440-F1F9-495D-8A68-3075B1B756AA}"/>
              </a:ext>
            </a:extLst>
          </p:cNvPr>
          <p:cNvSpPr/>
          <p:nvPr/>
        </p:nvSpPr>
        <p:spPr>
          <a:xfrm>
            <a:off x="1454934" y="160141"/>
            <a:ext cx="5948082" cy="26873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 sz="1600" b="1" dirty="0">
              <a:latin typeface="Ubuntu Mono Medium" panose="020B0309030602030204" pitchFamily="49" charset="0"/>
              <a:ea typeface="851ゴチカクット" panose="02000600000000000000" pitchFamily="2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FA00D5D-C708-4738-A19B-0C768C043F0A}"/>
              </a:ext>
            </a:extLst>
          </p:cNvPr>
          <p:cNvSpPr/>
          <p:nvPr/>
        </p:nvSpPr>
        <p:spPr>
          <a:xfrm>
            <a:off x="1454934" y="428877"/>
            <a:ext cx="9405806" cy="26873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600" b="1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Aharoni" panose="02010803020104030203" pitchFamily="2" charset="-79"/>
              </a:rPr>
              <a:t>＜   ＞    〇    ｜</a:t>
            </a:r>
            <a:r>
              <a:rPr kumimoji="1" lang="en-US" altLang="ja-JP" sz="11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Aharoni" panose="02010803020104030203" pitchFamily="2" charset="-79"/>
              </a:rPr>
              <a:t>https://</a:t>
            </a:r>
            <a:r>
              <a:rPr lang="en-US" altLang="ja-JP" sz="11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Aharoni" panose="02010803020104030203" pitchFamily="2" charset="-79"/>
              </a:rPr>
              <a:t>abcdefg.co.jp</a:t>
            </a:r>
            <a:endParaRPr kumimoji="1" lang="ja-JP" altLang="en-US" sz="11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191349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205</Words>
  <Application>Microsoft Office PowerPoint</Application>
  <PresentationFormat>ワイド画面</PresentationFormat>
  <Paragraphs>75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13" baseType="lpstr">
      <vt:lpstr>851ゴチカクット</vt:lpstr>
      <vt:lpstr>HGP創英角ｺﾞｼｯｸUB</vt:lpstr>
      <vt:lpstr>MS UI Gothic</vt:lpstr>
      <vt:lpstr>游ゴシック</vt:lpstr>
      <vt:lpstr>游ゴシック Light</vt:lpstr>
      <vt:lpstr>Aharoni</vt:lpstr>
      <vt:lpstr>Arial</vt:lpstr>
      <vt:lpstr>Arial Black</vt:lpstr>
      <vt:lpstr>Arial Rounded MT Bold</vt:lpstr>
      <vt:lpstr>Ubuntu Mono Medium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User3292</dc:creator>
  <cp:lastModifiedBy>User3292</cp:lastModifiedBy>
  <cp:revision>23</cp:revision>
  <dcterms:created xsi:type="dcterms:W3CDTF">2026-03-24T23:22:35Z</dcterms:created>
  <dcterms:modified xsi:type="dcterms:W3CDTF">2026-03-26T02:29:38Z</dcterms:modified>
</cp:coreProperties>
</file>